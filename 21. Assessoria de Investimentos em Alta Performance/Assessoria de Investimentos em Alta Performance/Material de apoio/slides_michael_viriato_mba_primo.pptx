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3" r:id="rId1"/>
    <p:sldMasterId id="2147483662" r:id="rId2"/>
  </p:sldMasterIdLst>
  <p:notesMasterIdLst>
    <p:notesMasterId r:id="rId147"/>
  </p:notesMasterIdLst>
  <p:sldIdLst>
    <p:sldId id="260" r:id="rId3"/>
    <p:sldId id="271" r:id="rId4"/>
    <p:sldId id="272" r:id="rId5"/>
    <p:sldId id="262" r:id="rId6"/>
    <p:sldId id="266" r:id="rId7"/>
    <p:sldId id="264" r:id="rId8"/>
    <p:sldId id="259" r:id="rId9"/>
    <p:sldId id="267" r:id="rId10"/>
    <p:sldId id="261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349" r:id="rId88"/>
    <p:sldId id="350" r:id="rId89"/>
    <p:sldId id="351" r:id="rId90"/>
    <p:sldId id="352" r:id="rId91"/>
    <p:sldId id="353" r:id="rId92"/>
    <p:sldId id="354" r:id="rId93"/>
    <p:sldId id="355" r:id="rId94"/>
    <p:sldId id="356" r:id="rId95"/>
    <p:sldId id="357" r:id="rId96"/>
    <p:sldId id="358" r:id="rId97"/>
    <p:sldId id="359" r:id="rId98"/>
    <p:sldId id="360" r:id="rId99"/>
    <p:sldId id="361" r:id="rId100"/>
    <p:sldId id="362" r:id="rId101"/>
    <p:sldId id="363" r:id="rId102"/>
    <p:sldId id="364" r:id="rId103"/>
    <p:sldId id="365" r:id="rId104"/>
    <p:sldId id="366" r:id="rId105"/>
    <p:sldId id="367" r:id="rId106"/>
    <p:sldId id="368" r:id="rId107"/>
    <p:sldId id="369" r:id="rId108"/>
    <p:sldId id="370" r:id="rId109"/>
    <p:sldId id="371" r:id="rId110"/>
    <p:sldId id="372" r:id="rId111"/>
    <p:sldId id="373" r:id="rId112"/>
    <p:sldId id="374" r:id="rId113"/>
    <p:sldId id="375" r:id="rId114"/>
    <p:sldId id="376" r:id="rId115"/>
    <p:sldId id="377" r:id="rId116"/>
    <p:sldId id="378" r:id="rId117"/>
    <p:sldId id="379" r:id="rId118"/>
    <p:sldId id="380" r:id="rId119"/>
    <p:sldId id="381" r:id="rId120"/>
    <p:sldId id="382" r:id="rId121"/>
    <p:sldId id="383" r:id="rId122"/>
    <p:sldId id="384" r:id="rId123"/>
    <p:sldId id="385" r:id="rId124"/>
    <p:sldId id="386" r:id="rId125"/>
    <p:sldId id="387" r:id="rId126"/>
    <p:sldId id="388" r:id="rId127"/>
    <p:sldId id="389" r:id="rId128"/>
    <p:sldId id="390" r:id="rId129"/>
    <p:sldId id="391" r:id="rId130"/>
    <p:sldId id="392" r:id="rId131"/>
    <p:sldId id="393" r:id="rId132"/>
    <p:sldId id="394" r:id="rId133"/>
    <p:sldId id="395" r:id="rId134"/>
    <p:sldId id="396" r:id="rId135"/>
    <p:sldId id="397" r:id="rId136"/>
    <p:sldId id="398" r:id="rId137"/>
    <p:sldId id="399" r:id="rId138"/>
    <p:sldId id="400" r:id="rId139"/>
    <p:sldId id="401" r:id="rId140"/>
    <p:sldId id="402" r:id="rId141"/>
    <p:sldId id="403" r:id="rId142"/>
    <p:sldId id="404" r:id="rId143"/>
    <p:sldId id="405" r:id="rId144"/>
    <p:sldId id="406" r:id="rId145"/>
    <p:sldId id="407" r:id="rId146"/>
  </p:sldIdLst>
  <p:sldSz cx="12192000" cy="6858000"/>
  <p:notesSz cx="9296400" cy="7010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85EE54-475D-4E71-B67B-7B5E0B376592}" v="6" dt="2023-01-18T18:57:03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14"/>
    <p:restoredTop sz="94750"/>
  </p:normalViewPr>
  <p:slideViewPr>
    <p:cSldViewPr snapToGrid="0" snapToObjects="1">
      <p:cViewPr varScale="1">
        <p:scale>
          <a:sx n="78" d="100"/>
          <a:sy n="78" d="100"/>
        </p:scale>
        <p:origin x="11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38" Type="http://schemas.openxmlformats.org/officeDocument/2006/relationships/slide" Target="slides/slide136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44" Type="http://schemas.openxmlformats.org/officeDocument/2006/relationships/slide" Target="slides/slide142.xml"/><Relationship Id="rId149" Type="http://schemas.openxmlformats.org/officeDocument/2006/relationships/viewProps" Target="view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theme" Target="theme/them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43" Type="http://schemas.openxmlformats.org/officeDocument/2006/relationships/slide" Target="slides/slide141.xml"/><Relationship Id="rId148" Type="http://schemas.openxmlformats.org/officeDocument/2006/relationships/presProps" Target="presProps.xml"/><Relationship Id="rId15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microsoft.com/office/2015/10/relationships/revisionInfo" Target="revisionInfo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B884180-9865-5D45-ABEE-EDE9F78FF064}" type="datetimeFigureOut">
              <a:rPr lang="pt-BR" smtClean="0"/>
              <a:t>18/03/2023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29640" y="3373755"/>
            <a:ext cx="7437120" cy="276034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9F9F6D9-4AC4-B540-876A-9B81B236A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49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FBFE0-0B3B-C445-9A84-8258DC7BD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330" y="1122364"/>
            <a:ext cx="7689669" cy="575808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3424AF-A73F-A045-92BD-C562AC8A3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8330" y="1894114"/>
            <a:ext cx="7689670" cy="336368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13B8A6-F46E-DB48-A2C5-5858CE090B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8065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94A2A-0378-C54E-A358-12DAF640F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BAB69-19DF-4840-B505-22172AF9B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90B818-89E7-BE4E-9DDC-C759CA71CB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56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FBFE0-0B3B-C445-9A84-8258DC7BD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330" y="1122364"/>
            <a:ext cx="7689669" cy="575808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3424AF-A73F-A045-92BD-C562AC8A3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8330" y="1894114"/>
            <a:ext cx="7689670" cy="336368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13B8A6-F46E-DB48-A2C5-5858CE090B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291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94A2A-0378-C54E-A358-12DAF640F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BAB69-19DF-4840-B505-22172AF9B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90B818-89E7-BE4E-9DDC-C759CA71CB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155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84455-E6B9-F640-A698-FBFA9013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016" y="1736726"/>
            <a:ext cx="8434433" cy="653777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CD88F6-6A01-D645-A6CD-98076DE6B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13016" y="2677887"/>
            <a:ext cx="8434434" cy="341176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C162A9-6E10-0646-89BA-29F10565A1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212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9E225-7CC5-F747-BFA1-F46718EB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5125"/>
            <a:ext cx="10256519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28FB91B-1984-EF48-B9F9-832603EE57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753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74806FBC-C35F-F743-9627-C3526CD986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8BC63F7-26AF-5E43-A6F4-B21C2B32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8126" y="1"/>
            <a:ext cx="6755673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TÍTULO DA CARTELA</a:t>
            </a:r>
          </a:p>
        </p:txBody>
      </p:sp>
    </p:spTree>
    <p:extLst>
      <p:ext uri="{BB962C8B-B14F-4D97-AF65-F5344CB8AC3E}">
        <p14:creationId xmlns:p14="http://schemas.microsoft.com/office/powerpoint/2010/main" val="167684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-150">
          <a:solidFill>
            <a:srgbClr val="002060"/>
          </a:solidFill>
          <a:latin typeface="Andale Mono" panose="020B0509000000000004" pitchFamily="49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4157554-2EB8-F047-A512-C030BC03B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576" y="365125"/>
            <a:ext cx="85322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FA20CF-87C1-654A-9AA2-82F46ACEE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1576" y="1854925"/>
            <a:ext cx="8532224" cy="4322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5D510E-808F-1440-A6A7-3028D1855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9888" y="6492875"/>
            <a:ext cx="85322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230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Andale Mono" panose="020B0509000000000004" pitchFamily="49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Andale Mono" panose="020B0509000000000004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Andale Mono" panose="020B0509000000000004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-150">
          <a:solidFill>
            <a:schemeClr val="tx1"/>
          </a:solidFill>
          <a:latin typeface="Andale Mono" panose="020B0509000000000004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-150">
          <a:solidFill>
            <a:schemeClr val="tx1"/>
          </a:solidFill>
          <a:latin typeface="Andale Mono" panose="020B0509000000000004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spc="-150">
          <a:solidFill>
            <a:schemeClr val="tx1"/>
          </a:solidFill>
          <a:latin typeface="Andale Mono" panose="020B0509000000000004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Como alcancei um patrimônio individual superior a</a:t>
            </a:r>
            <a:br>
              <a:rPr lang="pt-BR" dirty="0"/>
            </a:br>
            <a:r>
              <a:rPr lang="pt-BR" dirty="0"/>
              <a:t> R$ 1 bi sob administração</a:t>
            </a:r>
          </a:p>
        </p:txBody>
      </p:sp>
    </p:spTree>
    <p:extLst>
      <p:ext uri="{BB962C8B-B14F-4D97-AF65-F5344CB8AC3E}">
        <p14:creationId xmlns:p14="http://schemas.microsoft.com/office/powerpoint/2010/main" val="333912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Minha carreira</a:t>
            </a:r>
          </a:p>
        </p:txBody>
      </p:sp>
    </p:spTree>
    <p:extLst>
      <p:ext uri="{BB962C8B-B14F-4D97-AF65-F5344CB8AC3E}">
        <p14:creationId xmlns:p14="http://schemas.microsoft.com/office/powerpoint/2010/main" val="2027379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Carreira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Comecei  querendo ser Veterinário</a:t>
            </a:r>
          </a:p>
          <a:p>
            <a:endParaRPr lang="pt-BR" dirty="0"/>
          </a:p>
          <a:p>
            <a:r>
              <a:rPr lang="pt-BR" dirty="0"/>
              <a:t>Passei para engenheiro</a:t>
            </a:r>
          </a:p>
          <a:p>
            <a:endParaRPr lang="pt-BR" dirty="0"/>
          </a:p>
          <a:p>
            <a:r>
              <a:rPr lang="pt-BR" dirty="0"/>
              <a:t>Por fim, entrei para o mercado</a:t>
            </a:r>
          </a:p>
          <a:p>
            <a:endParaRPr lang="pt-BR" dirty="0"/>
          </a:p>
          <a:p>
            <a:r>
              <a:rPr lang="pt-BR" dirty="0"/>
              <a:t>4 anos como gestor de fundos de renda fixa</a:t>
            </a:r>
          </a:p>
          <a:p>
            <a:r>
              <a:rPr lang="pt-BR" dirty="0"/>
              <a:t>4 anos como analista de investimentos em ações</a:t>
            </a:r>
          </a:p>
          <a:p>
            <a:r>
              <a:rPr lang="pt-BR" dirty="0"/>
              <a:t>4 anos como gestor de fundos de ações</a:t>
            </a:r>
          </a:p>
          <a:p>
            <a:r>
              <a:rPr lang="pt-BR" dirty="0"/>
              <a:t>15 anos como professor</a:t>
            </a:r>
          </a:p>
          <a:p>
            <a:r>
              <a:rPr lang="pt-BR" dirty="0"/>
              <a:t>10 anos como assessor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788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começo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Oportunidade: foi por acaso, mas estava procurando</a:t>
            </a:r>
          </a:p>
          <a:p>
            <a:endParaRPr lang="pt-BR" dirty="0"/>
          </a:p>
          <a:p>
            <a:pPr marL="457200" lvl="1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D73DC9-A5DF-F512-DD2E-253BB5B48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29" y="2727223"/>
            <a:ext cx="4495926" cy="266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4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começo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Eu também pensei em desistir</a:t>
            </a:r>
          </a:p>
          <a:p>
            <a:endParaRPr lang="pt-BR" dirty="0"/>
          </a:p>
          <a:p>
            <a:r>
              <a:rPr lang="pt-BR" dirty="0"/>
              <a:t>Os três </a:t>
            </a:r>
            <a:r>
              <a:rPr lang="pt-BR" dirty="0" err="1"/>
              <a:t>Ps</a:t>
            </a:r>
            <a:r>
              <a:rPr lang="pt-BR" dirty="0"/>
              <a:t>: </a:t>
            </a:r>
          </a:p>
          <a:p>
            <a:endParaRPr lang="pt-BR" dirty="0"/>
          </a:p>
          <a:p>
            <a:pPr lvl="1"/>
            <a:r>
              <a:rPr lang="pt-BR" dirty="0"/>
              <a:t>Persistência</a:t>
            </a:r>
          </a:p>
          <a:p>
            <a:endParaRPr lang="pt-BR" dirty="0"/>
          </a:p>
          <a:p>
            <a:pPr lvl="1"/>
            <a:r>
              <a:rPr lang="pt-BR" dirty="0"/>
              <a:t>Paciência</a:t>
            </a:r>
          </a:p>
          <a:p>
            <a:endParaRPr lang="pt-BR" dirty="0"/>
          </a:p>
          <a:p>
            <a:pPr lvl="1"/>
            <a:r>
              <a:rPr lang="pt-BR" dirty="0"/>
              <a:t>Power (força)</a:t>
            </a:r>
          </a:p>
          <a:p>
            <a:endParaRPr lang="pt-BR" dirty="0"/>
          </a:p>
          <a:p>
            <a:pPr marL="457200" lvl="1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719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Toda jornada deve ser dividida</a:t>
            </a:r>
          </a:p>
        </p:txBody>
      </p:sp>
    </p:spTree>
    <p:extLst>
      <p:ext uri="{BB962C8B-B14F-4D97-AF65-F5344CB8AC3E}">
        <p14:creationId xmlns:p14="http://schemas.microsoft.com/office/powerpoint/2010/main" val="257607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Disciplina, disciplina e disciplina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investimentos, há três regras para o sucesso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Quebre sua jornada em metas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E85ACE8-9A7F-88B2-69A2-8746A6CE0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886" y="3667432"/>
            <a:ext cx="3956001" cy="234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Mercado de assessoria está saturado</a:t>
            </a:r>
          </a:p>
        </p:txBody>
      </p:sp>
    </p:spTree>
    <p:extLst>
      <p:ext uri="{BB962C8B-B14F-4D97-AF65-F5344CB8AC3E}">
        <p14:creationId xmlns:p14="http://schemas.microsoft.com/office/powerpoint/2010/main" val="267746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existe mercado saturado para quem é excelente no que faz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Busque ser a referência no que você faz</a:t>
            </a:r>
          </a:p>
          <a:p>
            <a:endParaRPr lang="pt-BR" dirty="0"/>
          </a:p>
          <a:p>
            <a:r>
              <a:rPr lang="pt-BR" dirty="0"/>
              <a:t>Esteja preparado como se fosse gravar no Jornal Nacional na próxima hora</a:t>
            </a:r>
          </a:p>
          <a:p>
            <a:endParaRPr lang="pt-BR" dirty="0"/>
          </a:p>
          <a:p>
            <a:r>
              <a:rPr lang="pt-BR" dirty="0"/>
              <a:t>O que eu fiz:</a:t>
            </a:r>
          </a:p>
          <a:p>
            <a:pPr lvl="1"/>
            <a:r>
              <a:rPr lang="pt-BR" dirty="0"/>
              <a:t>Lecionar</a:t>
            </a:r>
          </a:p>
          <a:p>
            <a:pPr lvl="1"/>
            <a:r>
              <a:rPr lang="pt-BR" dirty="0"/>
              <a:t>Escrever: jornal (Folha de São Paulo), blogs</a:t>
            </a:r>
          </a:p>
          <a:p>
            <a:pPr lvl="1"/>
            <a:r>
              <a:rPr lang="pt-BR" dirty="0"/>
              <a:t>Participar em entrevistas</a:t>
            </a:r>
          </a:p>
          <a:p>
            <a:pPr lvl="1"/>
            <a:r>
              <a:rPr lang="pt-BR" dirty="0"/>
              <a:t>Mídias sociais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740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O que faz um assessor de investimentos?</a:t>
            </a:r>
          </a:p>
        </p:txBody>
      </p:sp>
    </p:spTree>
    <p:extLst>
      <p:ext uri="{BB962C8B-B14F-4D97-AF65-F5344CB8AC3E}">
        <p14:creationId xmlns:p14="http://schemas.microsoft.com/office/powerpoint/2010/main" val="1904470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sua mãe acha que você faz?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Pergunte a cinco amigos o que eles acham que é a função de um assessor.</a:t>
            </a:r>
          </a:p>
          <a:p>
            <a:endParaRPr lang="pt-BR" dirty="0"/>
          </a:p>
          <a:p>
            <a:r>
              <a:rPr lang="pt-BR" dirty="0"/>
              <a:t>Sua visão vai ditar sua receita</a:t>
            </a:r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0402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 três atividades básicas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Captação</a:t>
            </a:r>
          </a:p>
          <a:p>
            <a:endParaRPr lang="pt-BR" dirty="0"/>
          </a:p>
          <a:p>
            <a:r>
              <a:rPr lang="pt-BR" dirty="0"/>
              <a:t>Relacionamento</a:t>
            </a:r>
          </a:p>
          <a:p>
            <a:endParaRPr lang="pt-BR" dirty="0"/>
          </a:p>
          <a:p>
            <a:r>
              <a:rPr lang="pt-BR" dirty="0"/>
              <a:t>Pesquisa</a:t>
            </a:r>
          </a:p>
          <a:p>
            <a:pPr marL="457200" lvl="1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1639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Desafios e atividades</a:t>
            </a:r>
          </a:p>
        </p:txBody>
      </p:sp>
    </p:spTree>
    <p:extLst>
      <p:ext uri="{BB962C8B-B14F-4D97-AF65-F5344CB8AC3E}">
        <p14:creationId xmlns:p14="http://schemas.microsoft.com/office/powerpoint/2010/main" val="2892981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Assessoria não é emprego, mas sociedade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Desafio para cada um é diferente, mas são similares</a:t>
            </a:r>
          </a:p>
          <a:p>
            <a:pPr lvl="1"/>
            <a:r>
              <a:rPr lang="pt-BR" dirty="0"/>
              <a:t>Não tenho conhecimento</a:t>
            </a:r>
          </a:p>
          <a:p>
            <a:pPr lvl="1"/>
            <a:r>
              <a:rPr lang="pt-BR" dirty="0"/>
              <a:t>Não tenho experiência</a:t>
            </a:r>
          </a:p>
          <a:p>
            <a:pPr lvl="1"/>
            <a:r>
              <a:rPr lang="pt-BR" dirty="0"/>
              <a:t>Não  sou comercial</a:t>
            </a:r>
          </a:p>
          <a:p>
            <a:pPr lvl="1"/>
            <a:r>
              <a:rPr lang="pt-BR" dirty="0"/>
              <a:t>Não sou bonito</a:t>
            </a:r>
          </a:p>
          <a:p>
            <a:pPr lvl="1"/>
            <a:r>
              <a:rPr lang="pt-BR" dirty="0"/>
              <a:t>Sou muito novo</a:t>
            </a:r>
          </a:p>
          <a:p>
            <a:pPr lvl="1"/>
            <a:r>
              <a:rPr lang="pt-BR" dirty="0"/>
              <a:t>Sou muito velho</a:t>
            </a:r>
          </a:p>
          <a:p>
            <a:pPr lvl="1"/>
            <a:r>
              <a:rPr lang="pt-BR" dirty="0"/>
              <a:t>Sou tímido</a:t>
            </a:r>
          </a:p>
          <a:p>
            <a:pPr lvl="1"/>
            <a:r>
              <a:rPr lang="pt-BR" dirty="0"/>
              <a:t>Conheço poucas pessoas com dinheiro</a:t>
            </a:r>
          </a:p>
          <a:p>
            <a:pPr lvl="1"/>
            <a:r>
              <a:rPr lang="pt-BR" dirty="0"/>
              <a:t>Meu escritório não é bonito</a:t>
            </a:r>
          </a:p>
          <a:p>
            <a:pPr lvl="1"/>
            <a:r>
              <a:rPr lang="pt-BR" dirty="0"/>
              <a:t>Preciso de uma foto melhor</a:t>
            </a:r>
          </a:p>
          <a:p>
            <a:pPr lvl="1"/>
            <a:r>
              <a:rPr lang="pt-BR" dirty="0"/>
              <a:t>Preciso de cartão de visita</a:t>
            </a:r>
          </a:p>
          <a:p>
            <a:pPr lvl="1"/>
            <a:r>
              <a:rPr lang="pt-BR" dirty="0"/>
              <a:t>Tenho medo de me expor</a:t>
            </a:r>
          </a:p>
          <a:p>
            <a:pPr lvl="1"/>
            <a:r>
              <a:rPr lang="pt-BR" dirty="0"/>
              <a:t>Não tenho carro</a:t>
            </a:r>
          </a:p>
          <a:p>
            <a:pPr lvl="1"/>
            <a:r>
              <a:rPr lang="pt-BR" dirty="0"/>
              <a:t>Tem de trabalhar demais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8705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O que fazer para vencer os desafios?</a:t>
            </a:r>
          </a:p>
        </p:txBody>
      </p:sp>
    </p:spTree>
    <p:extLst>
      <p:ext uri="{BB962C8B-B14F-4D97-AF65-F5344CB8AC3E}">
        <p14:creationId xmlns:p14="http://schemas.microsoft.com/office/powerpoint/2010/main" val="269174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Disciplina, disciplina e disciplina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Ser uma autoridade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6394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Mercado de assessoria está saturado?</a:t>
            </a:r>
          </a:p>
        </p:txBody>
      </p:sp>
    </p:spTree>
    <p:extLst>
      <p:ext uri="{BB962C8B-B14F-4D97-AF65-F5344CB8AC3E}">
        <p14:creationId xmlns:p14="http://schemas.microsoft.com/office/powerpoint/2010/main" val="2112162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Antes de começar, entenda isso</a:t>
            </a:r>
          </a:p>
        </p:txBody>
      </p:sp>
    </p:spTree>
    <p:extLst>
      <p:ext uri="{BB962C8B-B14F-4D97-AF65-F5344CB8AC3E}">
        <p14:creationId xmlns:p14="http://schemas.microsoft.com/office/powerpoint/2010/main" val="968052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 você resolver problemas, vai captar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Quais são os problemas das pessoas em investimentos?</a:t>
            </a:r>
          </a:p>
          <a:p>
            <a:endParaRPr lang="pt-BR" dirty="0"/>
          </a:p>
          <a:p>
            <a:r>
              <a:rPr lang="pt-BR" dirty="0"/>
              <a:t>Qual deveria ser seu papel?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O assessor é um vendedor?</a:t>
            </a:r>
          </a:p>
          <a:p>
            <a:pPr lvl="1"/>
            <a:r>
              <a:rPr lang="pt-BR" dirty="0"/>
              <a:t>Ser vendedor é algo ruim?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Venda  x  Assessoria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7139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Não somos vendedores com uma missão, </a:t>
            </a:r>
            <a:br>
              <a:rPr lang="pt-BR" dirty="0"/>
            </a:br>
            <a:r>
              <a:rPr lang="pt-BR" dirty="0"/>
              <a:t>mas missionários que vendem</a:t>
            </a:r>
          </a:p>
        </p:txBody>
      </p:sp>
    </p:spTree>
    <p:extLst>
      <p:ext uri="{BB962C8B-B14F-4D97-AF65-F5344CB8AC3E}">
        <p14:creationId xmlns:p14="http://schemas.microsoft.com/office/powerpoint/2010/main" val="3503808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Cliente não está atrás de um vendedor, mas de alguém que o ajude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Existe conflito de interesse?</a:t>
            </a:r>
          </a:p>
          <a:p>
            <a:pPr lvl="1"/>
            <a:r>
              <a:rPr lang="pt-BR" dirty="0"/>
              <a:t>Se você acha que alguma atividade está livre de conflito, é porque você não conhece bem essa atividade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Só ofereça o que você compra e o que você vai poder oferecer novamente quando o investimento vencer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6580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Existem duas reclamações básicas de clientes</a:t>
            </a:r>
          </a:p>
        </p:txBody>
      </p:sp>
    </p:spTree>
    <p:extLst>
      <p:ext uri="{BB962C8B-B14F-4D97-AF65-F5344CB8AC3E}">
        <p14:creationId xmlns:p14="http://schemas.microsoft.com/office/powerpoint/2010/main" val="1390507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Contato e retorno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Seu desafio é evitar frustração e proporcionar surpresa positiva</a:t>
            </a:r>
          </a:p>
          <a:p>
            <a:endParaRPr lang="pt-BR" dirty="0"/>
          </a:p>
          <a:p>
            <a:r>
              <a:rPr lang="pt-BR" dirty="0"/>
              <a:t>Como evitar frustração de retorno na carteira de um cliente?</a:t>
            </a:r>
          </a:p>
          <a:p>
            <a:endParaRPr lang="pt-BR" dirty="0"/>
          </a:p>
          <a:p>
            <a:r>
              <a:rPr lang="pt-BR" dirty="0"/>
              <a:t>Como evitar frustração de contato em um cliente?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9479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O  cliente só vai te indicar se estiver satisfeito com retorno ou atendimento</a:t>
            </a:r>
          </a:p>
        </p:txBody>
      </p:sp>
    </p:spTree>
    <p:extLst>
      <p:ext uri="{BB962C8B-B14F-4D97-AF65-F5344CB8AC3E}">
        <p14:creationId xmlns:p14="http://schemas.microsoft.com/office/powerpoint/2010/main" val="692515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retorno não está muito bom, mas 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Vão ter momentos em que o retorno não estará bom.</a:t>
            </a:r>
          </a:p>
          <a:p>
            <a:endParaRPr lang="pt-BR" dirty="0"/>
          </a:p>
          <a:p>
            <a:r>
              <a:rPr lang="pt-BR" dirty="0"/>
              <a:t>Somente a segurança que seu cliente tem em você vai segurá-lo</a:t>
            </a:r>
          </a:p>
          <a:p>
            <a:endParaRPr lang="pt-BR" dirty="0"/>
          </a:p>
          <a:p>
            <a:r>
              <a:rPr lang="pt-BR" dirty="0"/>
              <a:t>Ofereça mais do que é o esperado</a:t>
            </a:r>
          </a:p>
          <a:p>
            <a:pPr lvl="1"/>
            <a:r>
              <a:rPr lang="pt-BR" dirty="0"/>
              <a:t>Crie um planejamento</a:t>
            </a:r>
          </a:p>
          <a:p>
            <a:pPr lvl="1"/>
            <a:r>
              <a:rPr lang="pt-BR" dirty="0"/>
              <a:t>Seja o especialista/ autoridade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1763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Você NÃO deve ganhar em detrimento de seu cliente, mas junto com seu cliente</a:t>
            </a:r>
          </a:p>
        </p:txBody>
      </p:sp>
    </p:spTree>
    <p:extLst>
      <p:ext uri="{BB962C8B-B14F-4D97-AF65-F5344CB8AC3E}">
        <p14:creationId xmlns:p14="http://schemas.microsoft.com/office/powerpoint/2010/main" val="1506837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 você tem vergonha de explicar a comissão, você está fazendo algo errado com o cliente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Detalhe quanto você ganha por produto.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Faça a conta de quanto o cliente está te pagando indiretamente.</a:t>
            </a:r>
          </a:p>
          <a:p>
            <a:endParaRPr lang="pt-BR" dirty="0"/>
          </a:p>
          <a:p>
            <a:r>
              <a:rPr lang="pt-BR" dirty="0"/>
              <a:t>Explique que sua assessoria não custa nada a mais e mostre como ela pode gerar valor.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70287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Posicionamento estratégico</a:t>
            </a:r>
          </a:p>
        </p:txBody>
      </p:sp>
    </p:spTree>
    <p:extLst>
      <p:ext uri="{BB962C8B-B14F-4D97-AF65-F5344CB8AC3E}">
        <p14:creationId xmlns:p14="http://schemas.microsoft.com/office/powerpoint/2010/main" val="1489831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PJ ou PF</a:t>
            </a:r>
          </a:p>
        </p:txBody>
      </p:sp>
    </p:spTree>
    <p:extLst>
      <p:ext uri="{BB962C8B-B14F-4D97-AF65-F5344CB8AC3E}">
        <p14:creationId xmlns:p14="http://schemas.microsoft.com/office/powerpoint/2010/main" val="2701271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Precisa escolher?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Especializar ou ser um especialista?</a:t>
            </a:r>
          </a:p>
          <a:p>
            <a:endParaRPr lang="pt-BR" dirty="0"/>
          </a:p>
          <a:p>
            <a:r>
              <a:rPr lang="pt-BR" dirty="0"/>
              <a:t>Nem toda PJ é uma empresa, mas toda PF é uma pessoa</a:t>
            </a:r>
          </a:p>
          <a:p>
            <a:endParaRPr lang="pt-BR" dirty="0"/>
          </a:p>
          <a:p>
            <a:r>
              <a:rPr lang="pt-BR" dirty="0"/>
              <a:t>O que diferencia?</a:t>
            </a:r>
          </a:p>
          <a:p>
            <a:pPr lvl="1"/>
            <a:r>
              <a:rPr lang="pt-BR" dirty="0"/>
              <a:t>ROA</a:t>
            </a:r>
          </a:p>
          <a:p>
            <a:pPr lvl="1"/>
            <a:r>
              <a:rPr lang="pt-BR" dirty="0"/>
              <a:t>Captação</a:t>
            </a:r>
          </a:p>
          <a:p>
            <a:endParaRPr lang="pt-BR" dirty="0"/>
          </a:p>
          <a:p>
            <a:r>
              <a:rPr lang="pt-BR" dirty="0"/>
              <a:t>Qual o seu diferencial?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974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Faz diferença focar em um segmento?</a:t>
            </a:r>
          </a:p>
        </p:txBody>
      </p:sp>
    </p:spTree>
    <p:extLst>
      <p:ext uri="{BB962C8B-B14F-4D97-AF65-F5344CB8AC3E}">
        <p14:creationId xmlns:p14="http://schemas.microsoft.com/office/powerpoint/2010/main" val="1280829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Segmentação de clientes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Private , Alta Renda e Varejo</a:t>
            </a:r>
          </a:p>
          <a:p>
            <a:r>
              <a:rPr lang="pt-BR" dirty="0"/>
              <a:t>O que seria cada segmentação?</a:t>
            </a:r>
          </a:p>
          <a:p>
            <a:r>
              <a:rPr lang="pt-BR" dirty="0"/>
              <a:t>Private -&gt;  + R$ 10 mi</a:t>
            </a:r>
          </a:p>
          <a:p>
            <a:r>
              <a:rPr lang="pt-BR" dirty="0"/>
              <a:t>Alta Renda -&gt;  R$ 1 mi  -  R$ 10 mi</a:t>
            </a:r>
          </a:p>
          <a:p>
            <a:r>
              <a:rPr lang="pt-BR" dirty="0"/>
              <a:t>Varejo -&gt;  - R$ 1  mi</a:t>
            </a:r>
          </a:p>
          <a:p>
            <a:endParaRPr lang="pt-BR" dirty="0"/>
          </a:p>
          <a:p>
            <a:pPr lvl="1"/>
            <a:endParaRPr lang="pt-BR" dirty="0"/>
          </a:p>
          <a:p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6103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Segmentação de clientes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Você precisa decidir seu foco?</a:t>
            </a:r>
          </a:p>
          <a:p>
            <a:pPr lvl="1"/>
            <a:r>
              <a:rPr lang="pt-BR" dirty="0"/>
              <a:t>ROA</a:t>
            </a:r>
          </a:p>
          <a:p>
            <a:pPr lvl="1"/>
            <a:r>
              <a:rPr lang="pt-BR" dirty="0"/>
              <a:t>Capacidade operacional</a:t>
            </a:r>
          </a:p>
          <a:p>
            <a:endParaRPr lang="pt-BR" dirty="0"/>
          </a:p>
          <a:p>
            <a:r>
              <a:rPr lang="pt-BR" dirty="0"/>
              <a:t>Por que é importante definir o foco?</a:t>
            </a:r>
          </a:p>
          <a:p>
            <a:endParaRPr lang="pt-BR" dirty="0"/>
          </a:p>
          <a:p>
            <a:r>
              <a:rPr lang="pt-BR" dirty="0"/>
              <a:t>O que fazer com os clientes fora do foco?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7972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Especialização</a:t>
            </a:r>
          </a:p>
        </p:txBody>
      </p:sp>
    </p:spTree>
    <p:extLst>
      <p:ext uri="{BB962C8B-B14F-4D97-AF65-F5344CB8AC3E}">
        <p14:creationId xmlns:p14="http://schemas.microsoft.com/office/powerpoint/2010/main" val="1810352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Farmer ou Hunter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representa estes termos?</a:t>
            </a:r>
          </a:p>
          <a:p>
            <a:endParaRPr lang="pt-BR" dirty="0"/>
          </a:p>
          <a:p>
            <a:r>
              <a:rPr lang="pt-BR" dirty="0"/>
              <a:t>Faz sentido segmentar?</a:t>
            </a:r>
          </a:p>
          <a:p>
            <a:endParaRPr lang="pt-BR" dirty="0"/>
          </a:p>
          <a:p>
            <a:r>
              <a:rPr lang="pt-BR" dirty="0"/>
              <a:t>Em qual se ganha mais?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0583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O que fazer nos primeiro </a:t>
            </a:r>
            <a:r>
              <a:rPr lang="pt-BR"/>
              <a:t>seis meses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61842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Seja um foguete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Garra, sangue no olho, foco</a:t>
            </a:r>
          </a:p>
          <a:p>
            <a:endParaRPr lang="pt-BR" dirty="0"/>
          </a:p>
          <a:p>
            <a:r>
              <a:rPr lang="pt-BR" dirty="0"/>
              <a:t>Não perca tempo</a:t>
            </a:r>
          </a:p>
          <a:p>
            <a:r>
              <a:rPr lang="pt-BR" dirty="0"/>
              <a:t>Planeje pouco</a:t>
            </a:r>
          </a:p>
          <a:p>
            <a:r>
              <a:rPr lang="pt-BR" dirty="0"/>
              <a:t>Aja muito</a:t>
            </a:r>
          </a:p>
          <a:p>
            <a:endParaRPr lang="pt-BR" dirty="0"/>
          </a:p>
          <a:p>
            <a:r>
              <a:rPr lang="pt-BR" dirty="0"/>
              <a:t>Fogo, preparar, apontar</a:t>
            </a:r>
          </a:p>
          <a:p>
            <a:endParaRPr lang="pt-BR" dirty="0"/>
          </a:p>
          <a:p>
            <a:r>
              <a:rPr lang="pt-BR" dirty="0"/>
              <a:t>O local de trabalho (trabalho nas coxas)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10209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grande anúncio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Falar para todo o mundo</a:t>
            </a:r>
          </a:p>
          <a:p>
            <a:endParaRPr lang="pt-BR" dirty="0"/>
          </a:p>
          <a:p>
            <a:r>
              <a:rPr lang="pt-BR" dirty="0"/>
              <a:t>Divulgar em redes sociais (ter redes sociais ativas)</a:t>
            </a:r>
          </a:p>
          <a:p>
            <a:endParaRPr lang="pt-BR" dirty="0"/>
          </a:p>
          <a:p>
            <a:r>
              <a:rPr lang="pt-BR" dirty="0"/>
              <a:t>Envie e-mail para amigos, conhecidos e parentes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3370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Você deve ser uma autoridade</a:t>
            </a:r>
          </a:p>
        </p:txBody>
      </p:sp>
    </p:spTree>
    <p:extLst>
      <p:ext uri="{BB962C8B-B14F-4D97-AF65-F5344CB8AC3E}">
        <p14:creationId xmlns:p14="http://schemas.microsoft.com/office/powerpoint/2010/main" val="1924360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deve ser um private </a:t>
            </a:r>
            <a:r>
              <a:rPr lang="pt-BR" dirty="0" err="1"/>
              <a:t>banker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especialista x os outros</a:t>
            </a:r>
          </a:p>
          <a:p>
            <a:pPr lvl="1"/>
            <a:r>
              <a:rPr lang="pt-BR" dirty="0"/>
              <a:t>Guarda de trânsito, policial, ...</a:t>
            </a:r>
          </a:p>
          <a:p>
            <a:endParaRPr lang="pt-BR" dirty="0"/>
          </a:p>
          <a:p>
            <a:r>
              <a:rPr lang="pt-BR" dirty="0"/>
              <a:t>Autoridade</a:t>
            </a:r>
          </a:p>
          <a:p>
            <a:endParaRPr lang="pt-BR" dirty="0"/>
          </a:p>
          <a:p>
            <a:r>
              <a:rPr lang="pt-BR" dirty="0"/>
              <a:t>Como ser reconhecido como especialista?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O que você gosta nem sempre é o ideal</a:t>
            </a:r>
          </a:p>
          <a:p>
            <a:pPr marL="457200" lvl="1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8167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existe mercado saturado para quem é excelente no que faz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Busque ser a referência no que você faz</a:t>
            </a:r>
          </a:p>
          <a:p>
            <a:endParaRPr lang="pt-BR" dirty="0"/>
          </a:p>
          <a:p>
            <a:r>
              <a:rPr lang="pt-BR" dirty="0"/>
              <a:t>O que você vai fazer:</a:t>
            </a:r>
          </a:p>
          <a:p>
            <a:pPr lvl="1"/>
            <a:r>
              <a:rPr lang="pt-BR" dirty="0"/>
              <a:t>Mídias sociais ( o que é o mínimo?)</a:t>
            </a:r>
          </a:p>
          <a:p>
            <a:pPr lvl="1"/>
            <a:r>
              <a:rPr lang="pt-BR" dirty="0"/>
              <a:t>Comece um livro</a:t>
            </a:r>
          </a:p>
          <a:p>
            <a:pPr lvl="1"/>
            <a:r>
              <a:rPr lang="pt-BR" dirty="0"/>
              <a:t>Monte um curso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9362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Assessor é uma atividade flexível, mas </a:t>
            </a:r>
            <a:br>
              <a:rPr lang="pt-BR" dirty="0"/>
            </a:br>
            <a:r>
              <a:rPr lang="pt-BR" dirty="0"/>
              <a:t>flexível não é o que você pensa</a:t>
            </a:r>
          </a:p>
        </p:txBody>
      </p:sp>
    </p:spTree>
    <p:extLst>
      <p:ext uri="{BB962C8B-B14F-4D97-AF65-F5344CB8AC3E}">
        <p14:creationId xmlns:p14="http://schemas.microsoft.com/office/powerpoint/2010/main" val="3986754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Falar de comissão não pode ser um Tabu</a:t>
            </a:r>
          </a:p>
        </p:txBody>
      </p:sp>
    </p:spTree>
    <p:extLst>
      <p:ext uri="{BB962C8B-B14F-4D97-AF65-F5344CB8AC3E}">
        <p14:creationId xmlns:p14="http://schemas.microsoft.com/office/powerpoint/2010/main" val="20310498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 você tem vergonha de explicar a comissão, você está fazendo algo errado com o cliente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Detalhe quanto você ganha por produto.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Faça a conta de quanto o cliente está te pagando indiretamente.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Mostre os modelos que ele pode escolher  (fixo e variável).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04768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 você tem vergonha de explicar a comissão, você está fazendo algo errado com o cliente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Faça uma planilha simples com a conta (exemplo: perfil moderado)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Explique que sua assessoria não custa nada a mais e mostre como ela pode gerar valor.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6B997E0-15A5-8191-04E3-210AE0E79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638425"/>
            <a:ext cx="45720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992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Você NÃO deve ganhar em detrimento de seu cliente, mas junto com seu cliente</a:t>
            </a:r>
          </a:p>
        </p:txBody>
      </p:sp>
    </p:spTree>
    <p:extLst>
      <p:ext uri="{BB962C8B-B14F-4D97-AF65-F5344CB8AC3E}">
        <p14:creationId xmlns:p14="http://schemas.microsoft.com/office/powerpoint/2010/main" val="35894398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Produtos que têm potencial de dúvida sobre conflito de interesse, devem ser ainda mais detalhados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Produtos de maior risco</a:t>
            </a:r>
          </a:p>
          <a:p>
            <a:endParaRPr lang="pt-BR" dirty="0"/>
          </a:p>
          <a:p>
            <a:r>
              <a:rPr lang="pt-BR" dirty="0"/>
              <a:t>Produtos estruturados, COE, produtos com carência e produtos que a remuneração é “na cabeça”</a:t>
            </a:r>
          </a:p>
          <a:p>
            <a:endParaRPr lang="pt-BR" dirty="0"/>
          </a:p>
          <a:p>
            <a:r>
              <a:rPr lang="pt-BR" dirty="0"/>
              <a:t>Qualquer dúvida quanto à razão da indicação deve ser mitigada. </a:t>
            </a:r>
          </a:p>
          <a:p>
            <a:pPr lvl="1"/>
            <a:r>
              <a:rPr lang="pt-BR" dirty="0"/>
              <a:t>Caso André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57715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Seu cliente não deve pagar mais do que você paga como cliente</a:t>
            </a:r>
          </a:p>
        </p:txBody>
      </p:sp>
    </p:spTree>
    <p:extLst>
      <p:ext uri="{BB962C8B-B14F-4D97-AF65-F5344CB8AC3E}">
        <p14:creationId xmlns:p14="http://schemas.microsoft.com/office/powerpoint/2010/main" val="7606412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melhor termômetro se você está fazendo algo errado com o cliente é sua carteira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Você não deve vender o que você mesmo não compra (ou os sócios majoritários)</a:t>
            </a:r>
          </a:p>
          <a:p>
            <a:endParaRPr lang="pt-BR" dirty="0"/>
          </a:p>
          <a:p>
            <a:r>
              <a:rPr lang="pt-BR" dirty="0"/>
              <a:t>Dois casos de assessores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28307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Mostre ao seu cliente que ele te paga mais por indicação que por comissão</a:t>
            </a:r>
          </a:p>
        </p:txBody>
      </p:sp>
    </p:spTree>
    <p:extLst>
      <p:ext uri="{BB962C8B-B14F-4D97-AF65-F5344CB8AC3E}">
        <p14:creationId xmlns:p14="http://schemas.microsoft.com/office/powerpoint/2010/main" val="41955277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Indicação x Comissão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negócio sustentável é quando você ganha mais com as indicações do que com a comissão do próprio cliente</a:t>
            </a:r>
          </a:p>
          <a:p>
            <a:endParaRPr lang="pt-BR" dirty="0"/>
          </a:p>
          <a:p>
            <a:r>
              <a:rPr lang="pt-BR" dirty="0"/>
              <a:t>Mostre que o cliente tem o dever de trabalhar para você para que você seja remunerado e, assim, você possa ajudar ele melhor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78333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O que é uma reunião bem sucedida?</a:t>
            </a:r>
          </a:p>
        </p:txBody>
      </p:sp>
    </p:spTree>
    <p:extLst>
      <p:ext uri="{BB962C8B-B14F-4D97-AF65-F5344CB8AC3E}">
        <p14:creationId xmlns:p14="http://schemas.microsoft.com/office/powerpoint/2010/main" val="15241839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primeiro contato define quem você é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cliente pode chegar de duas formas</a:t>
            </a:r>
          </a:p>
          <a:p>
            <a:pPr lvl="1"/>
            <a:r>
              <a:rPr lang="pt-BR" dirty="0"/>
              <a:t>Ele te procurou</a:t>
            </a:r>
          </a:p>
          <a:p>
            <a:pPr lvl="2"/>
            <a:r>
              <a:rPr lang="pt-BR" dirty="0"/>
              <a:t>Indicação</a:t>
            </a:r>
          </a:p>
          <a:p>
            <a:pPr lvl="2"/>
            <a:r>
              <a:rPr lang="pt-BR" dirty="0"/>
              <a:t>curiosidade</a:t>
            </a:r>
          </a:p>
          <a:p>
            <a:pPr lvl="2"/>
            <a:r>
              <a:rPr lang="pt-BR" dirty="0"/>
              <a:t>ele te achou</a:t>
            </a:r>
          </a:p>
          <a:p>
            <a:pPr lvl="1"/>
            <a:r>
              <a:rPr lang="pt-BR" dirty="0"/>
              <a:t>Você procurou ele</a:t>
            </a:r>
          </a:p>
          <a:p>
            <a:endParaRPr lang="pt-BR" dirty="0"/>
          </a:p>
          <a:p>
            <a:r>
              <a:rPr lang="pt-BR" dirty="0"/>
              <a:t>Profissionalismo, respeito e autoridade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0421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dê de graça o que você vende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Contato pode já ser cliente de sua corretora ou de uma instituição financeira</a:t>
            </a:r>
          </a:p>
          <a:p>
            <a:endParaRPr lang="pt-BR" dirty="0"/>
          </a:p>
          <a:p>
            <a:r>
              <a:rPr lang="pt-BR" dirty="0"/>
              <a:t>É comum cliente pedir análise da carteira dele.</a:t>
            </a:r>
          </a:p>
          <a:p>
            <a:pPr lvl="1"/>
            <a:r>
              <a:rPr lang="pt-BR" dirty="0"/>
              <a:t>Vale para satisfazer e atrair?</a:t>
            </a:r>
          </a:p>
          <a:p>
            <a:pPr lvl="1"/>
            <a:r>
              <a:rPr lang="pt-BR" dirty="0"/>
              <a:t>Qual o problema disso?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0317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Na primeira reunião você não dá, mas, preferencialmente, recebe</a:t>
            </a:r>
          </a:p>
        </p:txBody>
      </p:sp>
    </p:spTree>
    <p:extLst>
      <p:ext uri="{BB962C8B-B14F-4D97-AF65-F5344CB8AC3E}">
        <p14:creationId xmlns:p14="http://schemas.microsoft.com/office/powerpoint/2010/main" val="28265934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Cuidado em querer mostrar o que sabe na primeira reunião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o cliente te procurou, você já é uma autoridade</a:t>
            </a:r>
          </a:p>
          <a:p>
            <a:endParaRPr lang="pt-BR" dirty="0"/>
          </a:p>
          <a:p>
            <a:r>
              <a:rPr lang="pt-BR" dirty="0"/>
              <a:t>Procure saber </a:t>
            </a:r>
          </a:p>
          <a:p>
            <a:pPr lvl="1"/>
            <a:r>
              <a:rPr lang="pt-BR" dirty="0"/>
              <a:t>o que ele quer </a:t>
            </a:r>
          </a:p>
          <a:p>
            <a:pPr lvl="1"/>
            <a:r>
              <a:rPr lang="pt-BR" dirty="0"/>
              <a:t>quanto ele sabe</a:t>
            </a:r>
          </a:p>
          <a:p>
            <a:pPr lvl="1"/>
            <a:r>
              <a:rPr lang="pt-BR" dirty="0"/>
              <a:t>do que ele não gosta</a:t>
            </a:r>
          </a:p>
          <a:p>
            <a:pPr lvl="1"/>
            <a:r>
              <a:rPr lang="pt-BR" dirty="0"/>
              <a:t>do que ele gosta</a:t>
            </a:r>
          </a:p>
          <a:p>
            <a:pPr lvl="1"/>
            <a:r>
              <a:rPr lang="pt-BR" dirty="0"/>
              <a:t>quais os objetivos dele</a:t>
            </a:r>
          </a:p>
          <a:p>
            <a:endParaRPr lang="pt-BR" dirty="0"/>
          </a:p>
          <a:p>
            <a:r>
              <a:rPr lang="pt-BR" dirty="0"/>
              <a:t>Se você já tem uma solução, como o cliente pode acreditar que ele é único se você ainda não o conhece?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79774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Cuidado em querer mostrar o que sabe na primeira reunião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você procurou o cliente, você ainda não é uma autoridade para ele</a:t>
            </a:r>
          </a:p>
          <a:p>
            <a:endParaRPr lang="pt-BR" dirty="0"/>
          </a:p>
          <a:p>
            <a:r>
              <a:rPr lang="pt-BR" dirty="0"/>
              <a:t>Objetivo do primeiro contato: despertar o interesse para marcar reunião</a:t>
            </a:r>
          </a:p>
          <a:p>
            <a:pPr lvl="1"/>
            <a:r>
              <a:rPr lang="pt-BR" dirty="0"/>
              <a:t>Com o que ele não está satisfeito?</a:t>
            </a:r>
          </a:p>
          <a:p>
            <a:pPr lvl="2"/>
            <a:r>
              <a:rPr lang="pt-BR" dirty="0"/>
              <a:t>Quais as duas insatisfações básicas?</a:t>
            </a:r>
          </a:p>
          <a:p>
            <a:pPr lvl="1"/>
            <a:r>
              <a:rPr lang="pt-BR" dirty="0"/>
              <a:t>O que ele desejaria mudar?</a:t>
            </a:r>
          </a:p>
          <a:p>
            <a:pPr lvl="1"/>
            <a:r>
              <a:rPr lang="pt-BR" dirty="0"/>
              <a:t>Mostrar que você pode ser a pessoa adequada e como isso é feito</a:t>
            </a:r>
          </a:p>
          <a:p>
            <a:endParaRPr lang="pt-BR" dirty="0"/>
          </a:p>
          <a:p>
            <a:r>
              <a:rPr lang="pt-BR" dirty="0"/>
              <a:t>Na primeira reunião, descobrir sobre o cliente</a:t>
            </a:r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81729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Seja profissional e organizado</a:t>
            </a:r>
          </a:p>
        </p:txBody>
      </p:sp>
    </p:spTree>
    <p:extLst>
      <p:ext uri="{BB962C8B-B14F-4D97-AF65-F5344CB8AC3E}">
        <p14:creationId xmlns:p14="http://schemas.microsoft.com/office/powerpoint/2010/main" val="32661230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 uma reunião, você precisa mostrar que sabe o que está fazendo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pessoa que não sabe o que está fazendo</a:t>
            </a:r>
          </a:p>
          <a:p>
            <a:endParaRPr lang="pt-BR" dirty="0"/>
          </a:p>
          <a:p>
            <a:r>
              <a:rPr lang="pt-BR" dirty="0"/>
              <a:t>Tenha uma estrutura simples e objetiva</a:t>
            </a:r>
          </a:p>
          <a:p>
            <a:r>
              <a:rPr lang="pt-BR" dirty="0"/>
              <a:t>Se faltou algo, não fique indo e voltando. </a:t>
            </a:r>
          </a:p>
          <a:p>
            <a:pPr lvl="1"/>
            <a:r>
              <a:rPr lang="pt-BR" dirty="0"/>
              <a:t>Avalie se pode perguntar em uma segunda reunião</a:t>
            </a:r>
          </a:p>
          <a:p>
            <a:pPr lvl="1"/>
            <a:r>
              <a:rPr lang="pt-BR" dirty="0"/>
              <a:t>Tente fazer relações de forma que a pessoa responda o que você deseja</a:t>
            </a:r>
          </a:p>
          <a:p>
            <a:pPr lvl="1"/>
            <a:endParaRPr lang="pt-BR" dirty="0"/>
          </a:p>
          <a:p>
            <a:r>
              <a:rPr lang="pt-BR" dirty="0"/>
              <a:t>Não perca tempo mais de 5 minutos da reunião com amenidades se é uma reunião de negócios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6607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Em uma reunião bem-sucedida</a:t>
            </a:r>
            <a:r>
              <a:rPr lang="pt-BR"/>
              <a:t>, </a:t>
            </a:r>
            <a:br>
              <a:rPr lang="pt-BR"/>
            </a:br>
            <a:r>
              <a:rPr lang="pt-BR"/>
              <a:t>o </a:t>
            </a:r>
            <a:r>
              <a:rPr lang="pt-BR" dirty="0"/>
              <a:t>cliente já sai com vontade de </a:t>
            </a:r>
            <a:r>
              <a:rPr lang="pt-BR"/>
              <a:t>indicar você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68017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A chave do sucesso</a:t>
            </a:r>
          </a:p>
        </p:txBody>
      </p:sp>
    </p:spTree>
    <p:extLst>
      <p:ext uri="{BB962C8B-B14F-4D97-AF65-F5344CB8AC3E}">
        <p14:creationId xmlns:p14="http://schemas.microsoft.com/office/powerpoint/2010/main" val="8890157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 qualquer atividade, a chave está no ponto crítico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Quais as três atividades básicas de um assessor?</a:t>
            </a:r>
          </a:p>
          <a:p>
            <a:endParaRPr lang="pt-BR" dirty="0"/>
          </a:p>
          <a:p>
            <a:r>
              <a:rPr lang="pt-BR" dirty="0"/>
              <a:t>Não se concentre em ROA (pelo menos no início)</a:t>
            </a:r>
          </a:p>
          <a:p>
            <a:r>
              <a:rPr lang="pt-BR" dirty="0"/>
              <a:t>Captar, captar, captar, captar, CAPTAR, CAPTAR, CAPTAR, CAPTAR</a:t>
            </a:r>
          </a:p>
          <a:p>
            <a:endParaRPr lang="pt-BR" dirty="0"/>
          </a:p>
          <a:p>
            <a:r>
              <a:rPr lang="pt-BR" dirty="0"/>
              <a:t>Empresas se preocupam primeiro com crescimento, depois com rentabilidade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  <p:sp>
        <p:nvSpPr>
          <p:cNvPr id="6" name="Triângulo isósceles 5">
            <a:extLst>
              <a:ext uri="{FF2B5EF4-FFF2-40B4-BE49-F238E27FC236}">
                <a16:creationId xmlns:a16="http://schemas.microsoft.com/office/drawing/2014/main" id="{93235E81-05E7-620A-AC42-A446FCD90106}"/>
              </a:ext>
            </a:extLst>
          </p:cNvPr>
          <p:cNvSpPr/>
          <p:nvPr/>
        </p:nvSpPr>
        <p:spPr>
          <a:xfrm>
            <a:off x="3829050" y="4662487"/>
            <a:ext cx="5048250" cy="1514475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Captação</a:t>
            </a:r>
          </a:p>
        </p:txBody>
      </p:sp>
      <p:sp>
        <p:nvSpPr>
          <p:cNvPr id="7" name="Triângulo isósceles 6">
            <a:extLst>
              <a:ext uri="{FF2B5EF4-FFF2-40B4-BE49-F238E27FC236}">
                <a16:creationId xmlns:a16="http://schemas.microsoft.com/office/drawing/2014/main" id="{AFA7A8F0-7769-60F7-6016-01B888D72B62}"/>
              </a:ext>
            </a:extLst>
          </p:cNvPr>
          <p:cNvSpPr/>
          <p:nvPr/>
        </p:nvSpPr>
        <p:spPr>
          <a:xfrm rot="10800000">
            <a:off x="3859989" y="4551905"/>
            <a:ext cx="5048250" cy="1514475"/>
          </a:xfrm>
          <a:prstGeom prst="triangle">
            <a:avLst>
              <a:gd name="adj" fmla="val 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0C4B56A-A69D-018D-3B4F-940C81FAEBC1}"/>
              </a:ext>
            </a:extLst>
          </p:cNvPr>
          <p:cNvSpPr txBox="1"/>
          <p:nvPr/>
        </p:nvSpPr>
        <p:spPr>
          <a:xfrm>
            <a:off x="6772275" y="4802743"/>
            <a:ext cx="1705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Relacionamento</a:t>
            </a:r>
          </a:p>
        </p:txBody>
      </p:sp>
    </p:spTree>
    <p:extLst>
      <p:ext uri="{BB962C8B-B14F-4D97-AF65-F5344CB8AC3E}">
        <p14:creationId xmlns:p14="http://schemas.microsoft.com/office/powerpoint/2010/main" val="15497177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Todos são potenciais clientes</a:t>
            </a:r>
          </a:p>
        </p:txBody>
      </p:sp>
    </p:spTree>
    <p:extLst>
      <p:ext uri="{BB962C8B-B14F-4D97-AF65-F5344CB8AC3E}">
        <p14:creationId xmlns:p14="http://schemas.microsoft.com/office/powerpoint/2010/main" val="36117020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Todos que possuem despesa maior que o INSS precisam de sua ajuda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Orgânico x Pago</a:t>
            </a:r>
          </a:p>
          <a:p>
            <a:pPr lvl="1"/>
            <a:r>
              <a:rPr lang="pt-BR" dirty="0"/>
              <a:t>qual é melhor?</a:t>
            </a:r>
          </a:p>
          <a:p>
            <a:pPr lvl="1"/>
            <a:r>
              <a:rPr lang="pt-BR" dirty="0"/>
              <a:t>qual é mais rápido?</a:t>
            </a:r>
          </a:p>
          <a:p>
            <a:pPr lvl="1"/>
            <a:r>
              <a:rPr lang="pt-BR" dirty="0"/>
              <a:t>qual sai mais barato?</a:t>
            </a:r>
          </a:p>
          <a:p>
            <a:endParaRPr lang="pt-BR" dirty="0"/>
          </a:p>
          <a:p>
            <a:r>
              <a:rPr lang="pt-BR" dirty="0"/>
              <a:t>Dentro da base x fora da base</a:t>
            </a:r>
          </a:p>
          <a:p>
            <a:pPr lvl="1"/>
            <a:r>
              <a:rPr lang="pt-BR" dirty="0"/>
              <a:t>Indicação</a:t>
            </a:r>
          </a:p>
          <a:p>
            <a:pPr lvl="1"/>
            <a:r>
              <a:rPr lang="pt-BR" dirty="0"/>
              <a:t>Atração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79365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Você pode chegar a R$ 1 bi com indicação</a:t>
            </a:r>
          </a:p>
        </p:txBody>
      </p:sp>
    </p:spTree>
    <p:extLst>
      <p:ext uri="{BB962C8B-B14F-4D97-AF65-F5344CB8AC3E}">
        <p14:creationId xmlns:p14="http://schemas.microsoft.com/office/powerpoint/2010/main" val="16796527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precisa ocorrer para ter indicação?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Gostar das pessoas</a:t>
            </a:r>
          </a:p>
          <a:p>
            <a:r>
              <a:rPr lang="pt-BR" dirty="0"/>
              <a:t>Todo mundo quer comprar algo de alguém que gosta de você</a:t>
            </a:r>
          </a:p>
          <a:p>
            <a:pPr lvl="1"/>
            <a:r>
              <a:rPr lang="pt-BR" dirty="0"/>
              <a:t>Exemplo de Joe Girardi: reconhecido pelo Guinness Book of World Records como o vendedor de mais carros em um ano (1425 carros em 1973)</a:t>
            </a:r>
          </a:p>
          <a:p>
            <a:endParaRPr lang="pt-BR" dirty="0"/>
          </a:p>
          <a:p>
            <a:r>
              <a:rPr lang="pt-BR" dirty="0"/>
              <a:t>Retorno e contato</a:t>
            </a:r>
          </a:p>
          <a:p>
            <a:endParaRPr lang="pt-BR" dirty="0"/>
          </a:p>
          <a:p>
            <a:r>
              <a:rPr lang="pt-BR" dirty="0"/>
              <a:t>Só é lembrado quem é visto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42130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Pedir indicação???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Faz sentido?</a:t>
            </a:r>
          </a:p>
          <a:p>
            <a:endParaRPr lang="pt-BR" dirty="0"/>
          </a:p>
          <a:p>
            <a:r>
              <a:rPr lang="pt-BR" dirty="0"/>
              <a:t>Três regras:</a:t>
            </a:r>
          </a:p>
          <a:p>
            <a:pPr lvl="1"/>
            <a:r>
              <a:rPr lang="pt-BR" dirty="0"/>
              <a:t>Não seja chato</a:t>
            </a:r>
          </a:p>
          <a:p>
            <a:pPr lvl="1"/>
            <a:r>
              <a:rPr lang="pt-BR" dirty="0"/>
              <a:t>Mereça</a:t>
            </a:r>
          </a:p>
          <a:p>
            <a:pPr lvl="1"/>
            <a:r>
              <a:rPr lang="pt-BR" dirty="0"/>
              <a:t>Não peça a quem não te recomenda</a:t>
            </a:r>
          </a:p>
          <a:p>
            <a:pPr lvl="1"/>
            <a:endParaRPr lang="pt-BR" dirty="0"/>
          </a:p>
          <a:p>
            <a:r>
              <a:rPr lang="pt-BR" dirty="0"/>
              <a:t>Em vez de pedir, pergunte quem poderia se interessar por um produto ou serviço</a:t>
            </a:r>
          </a:p>
          <a:p>
            <a:pPr lvl="1"/>
            <a:r>
              <a:rPr lang="pt-BR" dirty="0"/>
              <a:t>Traga o cliente para junto. </a:t>
            </a:r>
          </a:p>
          <a:p>
            <a:pPr lvl="2"/>
            <a:r>
              <a:rPr lang="pt-BR" dirty="0"/>
              <a:t>Peça para ele criar um grupo no Whatsapp te apresentando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43185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Quais os veículos e formas para captar no inorgânico?</a:t>
            </a:r>
          </a:p>
        </p:txBody>
      </p:sp>
    </p:spTree>
    <p:extLst>
      <p:ext uri="{BB962C8B-B14F-4D97-AF65-F5344CB8AC3E}">
        <p14:creationId xmlns:p14="http://schemas.microsoft.com/office/powerpoint/2010/main" val="15291003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Indicação pode ser natural, mas atração vai demandar 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Seja uma autoridade em algo:</a:t>
            </a:r>
          </a:p>
          <a:p>
            <a:pPr lvl="1"/>
            <a:r>
              <a:rPr lang="pt-BR" dirty="0"/>
              <a:t>aposentadoria</a:t>
            </a:r>
          </a:p>
          <a:p>
            <a:pPr lvl="1"/>
            <a:r>
              <a:rPr lang="pt-BR" dirty="0"/>
              <a:t>independência financeira</a:t>
            </a:r>
          </a:p>
          <a:p>
            <a:pPr lvl="1"/>
            <a:r>
              <a:rPr lang="pt-BR" dirty="0"/>
              <a:t>renda fixa</a:t>
            </a:r>
          </a:p>
          <a:p>
            <a:pPr lvl="1"/>
            <a:r>
              <a:rPr lang="pt-BR" dirty="0"/>
              <a:t>renda passiva</a:t>
            </a:r>
          </a:p>
          <a:p>
            <a:pPr lvl="1"/>
            <a:r>
              <a:rPr lang="pt-BR" dirty="0"/>
              <a:t>...</a:t>
            </a:r>
          </a:p>
          <a:p>
            <a:endParaRPr lang="pt-BR" dirty="0"/>
          </a:p>
          <a:p>
            <a:r>
              <a:rPr lang="pt-BR" dirty="0"/>
              <a:t>Ajude jornalistas com prontidão e sem exigir citação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31043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Indicação pode ser natural, mas atração vai demandar 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Mídias sociais</a:t>
            </a:r>
          </a:p>
          <a:p>
            <a:pPr lvl="1"/>
            <a:r>
              <a:rPr lang="pt-BR" dirty="0"/>
              <a:t>Você vai precisar dar</a:t>
            </a:r>
          </a:p>
          <a:p>
            <a:pPr lvl="1"/>
            <a:r>
              <a:rPr lang="pt-BR" dirty="0"/>
              <a:t>Tenha certeza que seu perfil será reconhecido como autoridade </a:t>
            </a:r>
          </a:p>
          <a:p>
            <a:pPr lvl="1"/>
            <a:r>
              <a:rPr lang="pt-BR" dirty="0"/>
              <a:t>Marketing de conteúdo</a:t>
            </a:r>
          </a:p>
          <a:p>
            <a:pPr lvl="1"/>
            <a:r>
              <a:rPr lang="pt-BR" dirty="0"/>
              <a:t>Tráfego pago</a:t>
            </a:r>
          </a:p>
          <a:p>
            <a:pPr lvl="1"/>
            <a:endParaRPr lang="pt-BR" dirty="0"/>
          </a:p>
          <a:p>
            <a:r>
              <a:rPr lang="pt-BR" dirty="0" err="1"/>
              <a:t>Linkedin</a:t>
            </a:r>
            <a:endParaRPr lang="pt-BR" dirty="0"/>
          </a:p>
          <a:p>
            <a:pPr lvl="1"/>
            <a:r>
              <a:rPr lang="pt-BR" dirty="0"/>
              <a:t>Não seja vendedor</a:t>
            </a:r>
          </a:p>
          <a:p>
            <a:pPr lvl="1"/>
            <a:r>
              <a:rPr lang="pt-BR" dirty="0"/>
              <a:t>Desenvolva relacionamento</a:t>
            </a:r>
          </a:p>
          <a:p>
            <a:pPr lvl="1"/>
            <a:endParaRPr lang="pt-BR" dirty="0"/>
          </a:p>
          <a:p>
            <a:r>
              <a:rPr lang="pt-BR" dirty="0"/>
              <a:t>Lista fria</a:t>
            </a:r>
          </a:p>
          <a:p>
            <a:pPr lvl="1"/>
            <a:r>
              <a:rPr lang="pt-BR" dirty="0"/>
              <a:t>Cuidado, pode ser uma fria e hoje tem o risco legal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03737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Intensidade é melhor </a:t>
            </a:r>
            <a:r>
              <a:rPr lang="pt-BR"/>
              <a:t>que qualidade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3280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Quando o cliente ganha, você ganha em dobro</a:t>
            </a:r>
          </a:p>
        </p:txBody>
      </p:sp>
    </p:spTree>
    <p:extLst>
      <p:ext uri="{BB962C8B-B14F-4D97-AF65-F5344CB8AC3E}">
        <p14:creationId xmlns:p14="http://schemas.microsoft.com/office/powerpoint/2010/main" val="37060683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for montar a carteira de um cliente, lembre-se sempre das duas regras de Buffett</a:t>
            </a:r>
          </a:p>
          <a:p>
            <a:pPr lvl="1"/>
            <a:r>
              <a:rPr lang="pt-BR" dirty="0"/>
              <a:t>Regra 1: nunca perca dinheiro</a:t>
            </a:r>
          </a:p>
          <a:p>
            <a:pPr lvl="1"/>
            <a:r>
              <a:rPr lang="pt-BR" dirty="0"/>
              <a:t>Regra 2: não esqueça a Regra 1</a:t>
            </a:r>
          </a:p>
          <a:p>
            <a:endParaRPr lang="pt-BR" dirty="0"/>
          </a:p>
          <a:p>
            <a:r>
              <a:rPr lang="pt-BR" dirty="0"/>
              <a:t>Como fazer para seguir essa regra?</a:t>
            </a:r>
          </a:p>
          <a:p>
            <a:pPr lvl="1"/>
            <a:r>
              <a:rPr lang="pt-BR" dirty="0"/>
              <a:t>Caso do COE sem caixa</a:t>
            </a:r>
          </a:p>
          <a:p>
            <a:pPr lvl="1"/>
            <a:r>
              <a:rPr lang="pt-BR" dirty="0"/>
              <a:t>Caso de RV no segundo semestre de 2021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Comece pela parte conservadora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01125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O combinado não sai caro</a:t>
            </a:r>
          </a:p>
        </p:txBody>
      </p:sp>
    </p:spTree>
    <p:extLst>
      <p:ext uri="{BB962C8B-B14F-4D97-AF65-F5344CB8AC3E}">
        <p14:creationId xmlns:p14="http://schemas.microsoft.com/office/powerpoint/2010/main" val="28525889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Ao montar uma carteira, alerte sobre as faixas de oscilação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Entenda a performance desejada e o que faria o cliente ficar insatisfeito</a:t>
            </a:r>
          </a:p>
          <a:p>
            <a:endParaRPr lang="pt-BR" dirty="0"/>
          </a:p>
          <a:p>
            <a:r>
              <a:rPr lang="pt-BR" dirty="0"/>
              <a:t>Explique os produtos que trazem segurança, mas como eles podem ter um custo (IPCA)</a:t>
            </a:r>
          </a:p>
          <a:p>
            <a:endParaRPr lang="pt-BR" dirty="0"/>
          </a:p>
          <a:p>
            <a:r>
              <a:rPr lang="pt-BR" dirty="0"/>
              <a:t>Mostre os resultados que podem ocorrer. </a:t>
            </a:r>
          </a:p>
          <a:p>
            <a:endParaRPr lang="pt-BR" dirty="0"/>
          </a:p>
          <a:p>
            <a:r>
              <a:rPr lang="pt-BR" dirty="0"/>
              <a:t>Explique que muitas vezes um ativo pode ter resultado ruim no curto prazo</a:t>
            </a:r>
          </a:p>
          <a:p>
            <a:endParaRPr lang="pt-BR" dirty="0"/>
          </a:p>
          <a:p>
            <a:r>
              <a:rPr lang="pt-BR" dirty="0"/>
              <a:t>Regra de ouro: Coloque o básico que você falou por escrito em e-mail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97258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O perfil da carteira de seu cliente não é igual ao seu</a:t>
            </a:r>
          </a:p>
        </p:txBody>
      </p:sp>
    </p:spTree>
    <p:extLst>
      <p:ext uri="{BB962C8B-B14F-4D97-AF65-F5344CB8AC3E}">
        <p14:creationId xmlns:p14="http://schemas.microsoft.com/office/powerpoint/2010/main" val="18897390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Seu cliente não é você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Carteira do assessor não é a carteira média do escritório.</a:t>
            </a:r>
          </a:p>
          <a:p>
            <a:pPr lvl="1"/>
            <a:r>
              <a:rPr lang="pt-BR" dirty="0"/>
              <a:t>Exemplo: assessor conservador e assessor agressivo</a:t>
            </a:r>
          </a:p>
          <a:p>
            <a:pPr lvl="1"/>
            <a:endParaRPr lang="pt-BR" dirty="0"/>
          </a:p>
          <a:p>
            <a:r>
              <a:rPr lang="pt-BR" dirty="0"/>
              <a:t>Apresente seu cenário ao cliente e pergunte qual o cenário dele</a:t>
            </a:r>
          </a:p>
          <a:p>
            <a:pPr lvl="1"/>
            <a:r>
              <a:rPr lang="pt-BR" dirty="0"/>
              <a:t>Alinhe a carteira ao cenário</a:t>
            </a:r>
          </a:p>
          <a:p>
            <a:pPr lvl="1"/>
            <a:endParaRPr lang="pt-BR" dirty="0"/>
          </a:p>
          <a:p>
            <a:r>
              <a:rPr lang="pt-BR" dirty="0"/>
              <a:t>Lembre-se: mudança de cenário provocam mudanças na carteira. Não o contrário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1125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Uma carteira com bom desempenho rende mais não só para o cliente</a:t>
            </a:r>
          </a:p>
        </p:txBody>
      </p:sp>
    </p:spTree>
    <p:extLst>
      <p:ext uri="{BB962C8B-B14F-4D97-AF65-F5344CB8AC3E}">
        <p14:creationId xmlns:p14="http://schemas.microsoft.com/office/powerpoint/2010/main" val="38722099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Você ganha em dobro com o sucesso de seu cliente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a carteira de todos os seus clientes sobe mais que o CDI, essa é uma situação de ganha x ganha</a:t>
            </a:r>
          </a:p>
          <a:p>
            <a:endParaRPr lang="pt-BR" dirty="0"/>
          </a:p>
          <a:p>
            <a:r>
              <a:rPr lang="pt-BR" dirty="0"/>
              <a:t>Seu cliente contente te indica mais</a:t>
            </a:r>
          </a:p>
          <a:p>
            <a:endParaRPr lang="pt-BR" dirty="0"/>
          </a:p>
          <a:p>
            <a:r>
              <a:rPr lang="pt-BR" dirty="0"/>
              <a:t>Você tem ganho proporcional ao tamanho de seu portfólio. Se ele cresce pelo menos o CDI, isso te garante maiores rendimentos no futuro. </a:t>
            </a:r>
          </a:p>
          <a:p>
            <a:endParaRPr lang="pt-BR" dirty="0"/>
          </a:p>
          <a:p>
            <a:r>
              <a:rPr lang="pt-BR" dirty="0"/>
              <a:t>O rendimento do portfólio de seu cliente funciona como uma adição de captação.</a:t>
            </a:r>
          </a:p>
          <a:p>
            <a:pPr lvl="1"/>
            <a:r>
              <a:rPr lang="pt-BR" dirty="0"/>
              <a:t>Exemplo, se seu cliente tem R$ 1 milhão e rende 12% ano </a:t>
            </a:r>
            <a:r>
              <a:rPr lang="pt-BR" dirty="0" err="1"/>
              <a:t>ano</a:t>
            </a:r>
            <a:r>
              <a:rPr lang="pt-BR" dirty="0"/>
              <a:t>, equivale a uma captação de R$ 10 mil mensal </a:t>
            </a:r>
            <a:r>
              <a:rPr lang="pt-BR"/>
              <a:t>deste cliente.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6233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Notícia ruim deve ser dada o quanto antes</a:t>
            </a:r>
          </a:p>
        </p:txBody>
      </p:sp>
    </p:spTree>
    <p:extLst>
      <p:ext uri="{BB962C8B-B14F-4D97-AF65-F5344CB8AC3E}">
        <p14:creationId xmlns:p14="http://schemas.microsoft.com/office/powerpoint/2010/main" val="37207427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 natural querermos protelar o anúncio de resultado negativo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 uma espécie de escaravelho cujo nome retrata um de seus hábitos.</a:t>
            </a:r>
          </a:p>
          <a:p>
            <a:pPr lvl="1"/>
            <a:r>
              <a:rPr lang="pt-BR" dirty="0"/>
              <a:t>Ele é chamado besouro do esterco, mas o nome mais popular é o conhecido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Se tem algo que foge ao padrão combinado, avise o quanto antes ou no momento da reunião programada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O cliente acompanha a própria carteira. Se for ele que te avisa, não adianta você dizer que já estava para ligar para ele.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015271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Vestindo o jaleco de médico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coloque na qualidade de um médico que está diagnosticando um paciente.</a:t>
            </a:r>
          </a:p>
          <a:p>
            <a:endParaRPr lang="pt-BR" dirty="0"/>
          </a:p>
          <a:p>
            <a:r>
              <a:rPr lang="pt-BR" dirty="0"/>
              <a:t>O paciente é seu cliente e seu plano de investimento</a:t>
            </a:r>
          </a:p>
          <a:p>
            <a:endParaRPr lang="pt-BR" dirty="0"/>
          </a:p>
          <a:p>
            <a:r>
              <a:rPr lang="pt-BR" dirty="0"/>
              <a:t>Ele pode não ter nada e ser só um hipocondríaco</a:t>
            </a:r>
          </a:p>
          <a:p>
            <a:endParaRPr lang="pt-BR" dirty="0"/>
          </a:p>
          <a:p>
            <a:r>
              <a:rPr lang="pt-BR" dirty="0"/>
              <a:t>Mas, mesmo com um hipocondríaco, você não pode minimizar qualquer sentimento de dor ou medo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552102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Qual atitude tomar quando o desempenho está negativo</a:t>
            </a:r>
          </a:p>
        </p:txBody>
      </p:sp>
    </p:spTree>
    <p:extLst>
      <p:ext uri="{BB962C8B-B14F-4D97-AF65-F5344CB8AC3E}">
        <p14:creationId xmlns:p14="http://schemas.microsoft.com/office/powerpoint/2010/main" val="12919614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fazer nada pode ser fazer muito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resultado negativo da carteira é consequência de qual aspecto?</a:t>
            </a:r>
          </a:p>
          <a:p>
            <a:pPr lvl="1"/>
            <a:r>
              <a:rPr lang="pt-BR" dirty="0"/>
              <a:t>alteração do cenário</a:t>
            </a:r>
          </a:p>
          <a:p>
            <a:pPr lvl="1"/>
            <a:r>
              <a:rPr lang="pt-BR" dirty="0"/>
              <a:t>falha em seleção do produto</a:t>
            </a:r>
          </a:p>
          <a:p>
            <a:pPr lvl="1"/>
            <a:r>
              <a:rPr lang="pt-BR" dirty="0"/>
              <a:t>oscilação de mercado</a:t>
            </a:r>
          </a:p>
          <a:p>
            <a:endParaRPr lang="pt-BR" dirty="0"/>
          </a:p>
          <a:p>
            <a:r>
              <a:rPr lang="pt-BR" dirty="0"/>
              <a:t>Para qualquer razão, oscilações negativas são momentos de captura de informação sobre a habilidade do cliente em correr risco</a:t>
            </a:r>
          </a:p>
          <a:p>
            <a:pPr lvl="1"/>
            <a:r>
              <a:rPr lang="pt-BR" dirty="0"/>
              <a:t>Exemplo da família de clientes</a:t>
            </a:r>
          </a:p>
          <a:p>
            <a:endParaRPr lang="pt-BR" dirty="0"/>
          </a:p>
          <a:p>
            <a:r>
              <a:rPr lang="pt-BR" dirty="0"/>
              <a:t>Aproveite para estabelecer faixas de oscilação e percentuais mínimos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95923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Mude antes que seu cliente mude</a:t>
            </a:r>
          </a:p>
        </p:txBody>
      </p:sp>
    </p:spTree>
    <p:extLst>
      <p:ext uri="{BB962C8B-B14F-4D97-AF65-F5344CB8AC3E}">
        <p14:creationId xmlns:p14="http://schemas.microsoft.com/office/powerpoint/2010/main" val="28049669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Seu limite de tolerância não é o do cliente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Carteira diversificada é bom na teoria, mas o retorno pode não agradar</a:t>
            </a:r>
          </a:p>
          <a:p>
            <a:pPr lvl="1"/>
            <a:r>
              <a:rPr lang="pt-BR" dirty="0"/>
              <a:t>Exemplo do planejador que diversifica</a:t>
            </a:r>
          </a:p>
          <a:p>
            <a:endParaRPr lang="pt-BR" dirty="0"/>
          </a:p>
          <a:p>
            <a:r>
              <a:rPr lang="pt-BR" dirty="0"/>
              <a:t>O tempo é o elemento crítico. </a:t>
            </a:r>
          </a:p>
          <a:p>
            <a:pPr lvl="1"/>
            <a:r>
              <a:rPr lang="pt-BR" dirty="0"/>
              <a:t>Exemplo do peso de 500 gramas</a:t>
            </a:r>
          </a:p>
          <a:p>
            <a:pPr lvl="1"/>
            <a:endParaRPr lang="pt-BR" dirty="0"/>
          </a:p>
          <a:p>
            <a:r>
              <a:rPr lang="pt-BR" dirty="0"/>
              <a:t>Seu cliente é sempre assediado com promessas e ele vê de você o passado. </a:t>
            </a:r>
          </a:p>
          <a:p>
            <a:endParaRPr lang="pt-BR" dirty="0"/>
          </a:p>
          <a:p>
            <a:r>
              <a:rPr lang="pt-BR" dirty="0"/>
              <a:t>Mude o futuro dele ou ele mudará no presente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37866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Vender não é realizar perda</a:t>
            </a:r>
            <a:br>
              <a:rPr lang="pt-BR" dirty="0"/>
            </a:br>
            <a:r>
              <a:rPr lang="pt-BR" dirty="0"/>
              <a:t>A perda já foi realizada</a:t>
            </a:r>
          </a:p>
        </p:txBody>
      </p:sp>
    </p:spTree>
    <p:extLst>
      <p:ext uri="{BB962C8B-B14F-4D97-AF65-F5344CB8AC3E}">
        <p14:creationId xmlns:p14="http://schemas.microsoft.com/office/powerpoint/2010/main" val="19499260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Saiba mudar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discussão sempre deve partir de qual a carteira ótima a partir de hoje</a:t>
            </a:r>
          </a:p>
          <a:p>
            <a:endParaRPr lang="pt-BR" dirty="0"/>
          </a:p>
          <a:p>
            <a:r>
              <a:rPr lang="pt-BR" dirty="0"/>
              <a:t>A carteira atual serve apenas para calcular o custo de mudança. Ou custo de venda</a:t>
            </a:r>
          </a:p>
          <a:p>
            <a:endParaRPr lang="pt-BR" dirty="0"/>
          </a:p>
          <a:p>
            <a:r>
              <a:rPr lang="pt-BR" dirty="0"/>
              <a:t>Se o ativo está a mercado, o resultado passado já foi realizado e perdas também</a:t>
            </a:r>
          </a:p>
          <a:p>
            <a:endParaRPr lang="pt-BR" dirty="0"/>
          </a:p>
          <a:p>
            <a:r>
              <a:rPr lang="pt-BR" dirty="0"/>
              <a:t>A perda passada só serve de lição, mas não significa potencial de ganho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92476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80% do trabalho é rotina, mas assessoria não é um trabalho rotineiro</a:t>
            </a:r>
          </a:p>
        </p:txBody>
      </p:sp>
    </p:spTree>
    <p:extLst>
      <p:ext uri="{BB962C8B-B14F-4D97-AF65-F5344CB8AC3E}">
        <p14:creationId xmlns:p14="http://schemas.microsoft.com/office/powerpoint/2010/main" val="31100638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Meu dia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Acordo 5 horas</a:t>
            </a:r>
          </a:p>
          <a:p>
            <a:r>
              <a:rPr lang="pt-BR" dirty="0"/>
              <a:t>15 min para ver mercados da madrugada, notícias da madrugada e mensagens de clientes.</a:t>
            </a:r>
          </a:p>
          <a:p>
            <a:r>
              <a:rPr lang="pt-BR" dirty="0"/>
              <a:t>Exercício físico de 6 às 7 horas</a:t>
            </a:r>
          </a:p>
          <a:p>
            <a:r>
              <a:rPr lang="pt-BR" dirty="0"/>
              <a:t>Entro no escritório 7:30 horas</a:t>
            </a:r>
          </a:p>
          <a:p>
            <a:r>
              <a:rPr lang="pt-BR" dirty="0"/>
              <a:t>Até 8:30 leitura de jornais, e-mails de notícia, </a:t>
            </a:r>
            <a:r>
              <a:rPr lang="pt-BR" dirty="0" err="1"/>
              <a:t>Telegram</a:t>
            </a:r>
            <a:r>
              <a:rPr lang="pt-BR" dirty="0"/>
              <a:t>, ...</a:t>
            </a:r>
          </a:p>
          <a:p>
            <a:r>
              <a:rPr lang="pt-BR" dirty="0"/>
              <a:t>Entre 8:30 e 9:30 há reuniões internas, da corretora, gestores e clientes. </a:t>
            </a:r>
          </a:p>
          <a:p>
            <a:r>
              <a:rPr lang="pt-BR" dirty="0"/>
              <a:t>Entre 9:30 e 11:30 ver caixas de clientes, conferir as operações do dia anterior, iniciar as solicitações de operações do dia, conversas rápidas com clientes (não reuniões)</a:t>
            </a:r>
          </a:p>
          <a:p>
            <a:r>
              <a:rPr lang="pt-BR" dirty="0"/>
              <a:t>Entre 11:30 e 12:00 horas almoço (não costumo almoçar com clientes)</a:t>
            </a:r>
          </a:p>
          <a:p>
            <a:r>
              <a:rPr lang="pt-BR" dirty="0"/>
              <a:t>Entre 12:00 horas a 14:30  cobrar a confirmação de operações</a:t>
            </a:r>
          </a:p>
          <a:p>
            <a:r>
              <a:rPr lang="pt-BR" dirty="0"/>
              <a:t>Entre 13:30 e 18:30 horas, reuniões com cliente, gestores, fornecedores de serviços e a corretora.</a:t>
            </a:r>
          </a:p>
          <a:p>
            <a:r>
              <a:rPr lang="pt-BR" dirty="0"/>
              <a:t>Entre 18:30 e 20:00 horas, rever o que ficou pendente e escrever</a:t>
            </a:r>
          </a:p>
          <a:p>
            <a:r>
              <a:rPr lang="pt-BR" dirty="0"/>
              <a:t>Chego em casa entre 20:30 e 21:00 horas</a:t>
            </a:r>
          </a:p>
          <a:p>
            <a:r>
              <a:rPr lang="pt-BR" dirty="0"/>
              <a:t>Desligo tudo às 22:00 horas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14765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Home Office x Office</a:t>
            </a:r>
          </a:p>
        </p:txBody>
      </p:sp>
    </p:spTree>
    <p:extLst>
      <p:ext uri="{BB962C8B-B14F-4D97-AF65-F5344CB8AC3E}">
        <p14:creationId xmlns:p14="http://schemas.microsoft.com/office/powerpoint/2010/main" val="35106274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melhor?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você está começando ou não tem patrimônio superior a R$300 milhões, seu ambiente ideal é o escritório</a:t>
            </a:r>
          </a:p>
          <a:p>
            <a:endParaRPr lang="pt-BR" dirty="0"/>
          </a:p>
          <a:p>
            <a:r>
              <a:rPr lang="pt-BR" dirty="0"/>
              <a:t>Escritório: disciplina, incentivo, disciplina, aprendizado, disciplina, rápida discursão, ... disciplina</a:t>
            </a:r>
          </a:p>
          <a:p>
            <a:endParaRPr lang="pt-BR" dirty="0"/>
          </a:p>
          <a:p>
            <a:r>
              <a:rPr lang="pt-BR" dirty="0"/>
              <a:t>Home Office: tempo de deslocamento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56736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Apresentação</a:t>
            </a:r>
          </a:p>
        </p:txBody>
      </p:sp>
    </p:spTree>
    <p:extLst>
      <p:ext uri="{BB962C8B-B14F-4D97-AF65-F5344CB8AC3E}">
        <p14:creationId xmlns:p14="http://schemas.microsoft.com/office/powerpoint/2010/main" val="45526770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 reflete autoridade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Profissionalismo</a:t>
            </a:r>
          </a:p>
          <a:p>
            <a:pPr lvl="1"/>
            <a:r>
              <a:rPr lang="pt-BR" dirty="0"/>
              <a:t>ambiente de trabalho</a:t>
            </a:r>
          </a:p>
          <a:p>
            <a:pPr lvl="1"/>
            <a:r>
              <a:rPr lang="pt-BR" dirty="0"/>
              <a:t>vestuário</a:t>
            </a:r>
          </a:p>
          <a:p>
            <a:pPr lvl="1"/>
            <a:r>
              <a:rPr lang="pt-BR" dirty="0"/>
              <a:t>apresentação pessoal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457659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A quem você daria para administrar seu bem mais precioso?</a:t>
            </a:r>
          </a:p>
        </p:txBody>
      </p:sp>
    </p:spTree>
    <p:extLst>
      <p:ext uri="{BB962C8B-B14F-4D97-AF65-F5344CB8AC3E}">
        <p14:creationId xmlns:p14="http://schemas.microsoft.com/office/powerpoint/2010/main" val="197989042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Investimentos é uma das portas de entrada, mas você precisa ter soluções financeiras</a:t>
            </a:r>
          </a:p>
        </p:txBody>
      </p:sp>
    </p:spTree>
    <p:extLst>
      <p:ext uri="{BB962C8B-B14F-4D97-AF65-F5344CB8AC3E}">
        <p14:creationId xmlns:p14="http://schemas.microsoft.com/office/powerpoint/2010/main" val="16692566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Entenda o que o cliente precisa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Seguros e previdência</a:t>
            </a:r>
          </a:p>
          <a:p>
            <a:pPr lvl="1"/>
            <a:r>
              <a:rPr lang="pt-BR" dirty="0"/>
              <a:t>quando usar cada um</a:t>
            </a:r>
          </a:p>
          <a:p>
            <a:endParaRPr lang="pt-BR" dirty="0"/>
          </a:p>
          <a:p>
            <a:r>
              <a:rPr lang="pt-BR" dirty="0"/>
              <a:t>Não venda um produto, mas uma solução que o cliente deseja comprar</a:t>
            </a:r>
          </a:p>
          <a:p>
            <a:endParaRPr lang="pt-BR" dirty="0"/>
          </a:p>
          <a:p>
            <a:r>
              <a:rPr lang="pt-BR" dirty="0"/>
              <a:t>Todos precisam de seguro</a:t>
            </a:r>
          </a:p>
          <a:p>
            <a:pPr lvl="1"/>
            <a:r>
              <a:rPr lang="pt-BR" dirty="0"/>
              <a:t>A diferença é se você deseja financiar o risco ou transferir</a:t>
            </a:r>
          </a:p>
          <a:p>
            <a:pPr lvl="1"/>
            <a:endParaRPr lang="pt-BR" dirty="0"/>
          </a:p>
          <a:p>
            <a:r>
              <a:rPr lang="pt-BR" dirty="0"/>
              <a:t>Entenda o meu erro e não o repita</a:t>
            </a:r>
          </a:p>
          <a:p>
            <a:endParaRPr lang="pt-BR" dirty="0"/>
          </a:p>
          <a:p>
            <a:r>
              <a:rPr lang="pt-BR" dirty="0"/>
              <a:t>Seu trabalho é apresentar e orientar. Quem vende é o cliente</a:t>
            </a:r>
          </a:p>
          <a:p>
            <a:endParaRPr lang="pt-BR" dirty="0"/>
          </a:p>
          <a:p>
            <a:r>
              <a:rPr lang="pt-BR" dirty="0"/>
              <a:t>Lembre-se da regra: você precisa ter antes de vender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30412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Potencial de receita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Lembrar da regra de informar ao cliente sobre comissões</a:t>
            </a:r>
          </a:p>
          <a:p>
            <a:endParaRPr lang="pt-BR" dirty="0"/>
          </a:p>
          <a:p>
            <a:r>
              <a:rPr lang="pt-BR" dirty="0"/>
              <a:t>Exemplo: considere um cliente que inicia com patrimônio de R$ 200 mil e invista o equivalente a R$ 60 mil por ano. Assuma um objetivo de atingir R$ 1,3 milhões em dez anos, pois assim teria patrimônio para sustentar a educação do filho </a:t>
            </a:r>
          </a:p>
          <a:p>
            <a:r>
              <a:rPr lang="pt-BR" dirty="0"/>
              <a:t>Considerando um ROA de 0,28% nos investimentos, esse patrimônio te gera uma receita próxima de R$ 19 mil nos dez anos acumulados</a:t>
            </a:r>
          </a:p>
          <a:p>
            <a:r>
              <a:rPr lang="pt-BR" dirty="0"/>
              <a:t>Faria sentido este investidor fazer um seguro de vida temporário para pelo menos os dez anos com invalidez e acidentes pessoais. Isso custaria cerca de R$ 500 por mês ou R$ 6 mil no ano.</a:t>
            </a:r>
          </a:p>
          <a:p>
            <a:r>
              <a:rPr lang="pt-BR" dirty="0"/>
              <a:t>Esse seguro te remuneraria nos dez anos um valor próximo a R$ 4 mil</a:t>
            </a:r>
          </a:p>
          <a:p>
            <a:r>
              <a:rPr lang="pt-BR" dirty="0"/>
              <a:t>Portanto, o seguro além de proteger seu cliente e a família, eleva seu ROA e cerca de 20%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60672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Educação: seja pago para aprender</a:t>
            </a:r>
          </a:p>
        </p:txBody>
      </p:sp>
    </p:spTree>
    <p:extLst>
      <p:ext uri="{BB962C8B-B14F-4D97-AF65-F5344CB8AC3E}">
        <p14:creationId xmlns:p14="http://schemas.microsoft.com/office/powerpoint/2010/main" val="73352680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Aprenda ensinando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momento que eu mais aprendi foi quando eu ensinei</a:t>
            </a:r>
          </a:p>
          <a:p>
            <a:endParaRPr lang="pt-BR" dirty="0"/>
          </a:p>
          <a:p>
            <a:r>
              <a:rPr lang="pt-BR" dirty="0"/>
              <a:t>Os cursos têm cinco vantagens</a:t>
            </a:r>
          </a:p>
          <a:p>
            <a:pPr lvl="1"/>
            <a:r>
              <a:rPr lang="pt-BR" dirty="0"/>
              <a:t>Formação de autoridade</a:t>
            </a:r>
          </a:p>
          <a:p>
            <a:pPr lvl="1"/>
            <a:r>
              <a:rPr lang="pt-BR" dirty="0"/>
              <a:t>Receita</a:t>
            </a:r>
          </a:p>
          <a:p>
            <a:pPr lvl="1"/>
            <a:r>
              <a:rPr lang="pt-BR" dirty="0"/>
              <a:t>Captação de novos clientes</a:t>
            </a:r>
          </a:p>
          <a:p>
            <a:pPr lvl="1"/>
            <a:r>
              <a:rPr lang="pt-BR" dirty="0"/>
              <a:t>Solidificação do conhecimento</a:t>
            </a:r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190305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Câmbio</a:t>
            </a:r>
          </a:p>
        </p:txBody>
      </p:sp>
    </p:spTree>
    <p:extLst>
      <p:ext uri="{BB962C8B-B14F-4D97-AF65-F5344CB8AC3E}">
        <p14:creationId xmlns:p14="http://schemas.microsoft.com/office/powerpoint/2010/main" val="208712372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Viagens e despesas internacionais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Serviço commodity </a:t>
            </a:r>
            <a:endParaRPr lang="pt-BR" dirty="0"/>
          </a:p>
          <a:p>
            <a:endParaRPr lang="pt-BR" dirty="0"/>
          </a:p>
          <a:p>
            <a:r>
              <a:rPr lang="pt-BR" dirty="0"/>
              <a:t>Dependendo de sua carteira de clientes, esta receita pode representar mais de 20% do total</a:t>
            </a:r>
          </a:p>
          <a:p>
            <a:pPr lvl="1"/>
            <a:r>
              <a:rPr lang="pt-BR" dirty="0"/>
              <a:t>Exemplo de empresas que demandam fechamento de câmbio</a:t>
            </a:r>
          </a:p>
          <a:p>
            <a:pPr lvl="1"/>
            <a:endParaRPr lang="pt-BR" dirty="0"/>
          </a:p>
          <a:p>
            <a:r>
              <a:rPr lang="pt-BR" dirty="0"/>
              <a:t>Estreitar relacionamento para investimentos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38309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Financiamento</a:t>
            </a:r>
          </a:p>
        </p:txBody>
      </p:sp>
    </p:spTree>
    <p:extLst>
      <p:ext uri="{BB962C8B-B14F-4D97-AF65-F5344CB8AC3E}">
        <p14:creationId xmlns:p14="http://schemas.microsoft.com/office/powerpoint/2010/main" val="176796816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Nem todo financiamento é caro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Financiamento não é ruim quando o recurso é aplicado em investimento que remunera mais que a taxa do empréstimo</a:t>
            </a:r>
          </a:p>
          <a:p>
            <a:pPr lvl="1"/>
            <a:r>
              <a:rPr lang="pt-BR" dirty="0"/>
              <a:t>Alavancagem</a:t>
            </a:r>
          </a:p>
          <a:p>
            <a:endParaRPr lang="pt-BR" dirty="0"/>
          </a:p>
          <a:p>
            <a:r>
              <a:rPr lang="pt-BR" dirty="0"/>
              <a:t>Atenção para a falta de planejamento ou antecipação de sonhos</a:t>
            </a:r>
          </a:p>
          <a:p>
            <a:pPr lvl="1"/>
            <a:r>
              <a:rPr lang="pt-BR" dirty="0"/>
              <a:t>Isso pode ser caro</a:t>
            </a:r>
          </a:p>
          <a:p>
            <a:endParaRPr lang="pt-BR" dirty="0"/>
          </a:p>
          <a:p>
            <a:r>
              <a:rPr lang="pt-BR" dirty="0"/>
              <a:t>Você deve agir como assessor, mostrando ao cliente as vantagens e desvantagens</a:t>
            </a:r>
          </a:p>
          <a:p>
            <a:pPr lvl="1"/>
            <a:r>
              <a:rPr lang="pt-BR" dirty="0"/>
              <a:t>Exemplo de financiamento com FGTS</a:t>
            </a:r>
          </a:p>
          <a:p>
            <a:endParaRPr lang="pt-BR" dirty="0"/>
          </a:p>
          <a:p>
            <a:r>
              <a:rPr lang="pt-BR" dirty="0"/>
              <a:t>Elevação de sua receita e reconhecimento do cliente sobre o planejamento dele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187436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A corretora e o escritório</a:t>
            </a:r>
          </a:p>
        </p:txBody>
      </p:sp>
    </p:spTree>
    <p:extLst>
      <p:ext uri="{BB962C8B-B14F-4D97-AF65-F5344CB8AC3E}">
        <p14:creationId xmlns:p14="http://schemas.microsoft.com/office/powerpoint/2010/main" val="222530820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Primeiro você escolhe a corretora e depois o escritório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Faz diferença escolher a corretora?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Lembre-se: um cliente compra de um lugar que ele confia, um produto adequado e de quem ele gosta.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Portanto, quais os dois principais aspectos para analisar na escolha?</a:t>
            </a:r>
          </a:p>
          <a:p>
            <a:endParaRPr lang="pt-BR" dirty="0"/>
          </a:p>
          <a:p>
            <a:r>
              <a:rPr lang="pt-BR" dirty="0"/>
              <a:t>Serviços financeiros estão muito relacionados a tecnologia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864470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Modelo de escritório</a:t>
            </a:r>
          </a:p>
        </p:txBody>
      </p:sp>
    </p:spTree>
    <p:extLst>
      <p:ext uri="{BB962C8B-B14F-4D97-AF65-F5344CB8AC3E}">
        <p14:creationId xmlns:p14="http://schemas.microsoft.com/office/powerpoint/2010/main" val="190228390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Três fatores na escolha do escritório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maioria foca onde vai ganhar mais nos próximos 12 meses</a:t>
            </a:r>
          </a:p>
          <a:p>
            <a:pPr lvl="1"/>
            <a:r>
              <a:rPr lang="pt-BR" dirty="0"/>
              <a:t>Qual o problema desse enfoque?</a:t>
            </a:r>
          </a:p>
          <a:p>
            <a:pPr lvl="1"/>
            <a:endParaRPr lang="pt-BR" dirty="0"/>
          </a:p>
          <a:p>
            <a:r>
              <a:rPr lang="pt-BR" dirty="0"/>
              <a:t>Pessoas, contrato, modelo</a:t>
            </a:r>
          </a:p>
          <a:p>
            <a:endParaRPr lang="pt-BR" dirty="0"/>
          </a:p>
          <a:p>
            <a:r>
              <a:rPr lang="pt-BR" dirty="0"/>
              <a:t>Como selecionar o fator pessoas?</a:t>
            </a:r>
          </a:p>
          <a:p>
            <a:endParaRPr lang="pt-BR" dirty="0"/>
          </a:p>
          <a:p>
            <a:r>
              <a:rPr lang="pt-BR" dirty="0"/>
              <a:t>O que olhar no contrato?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473517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Quais os modelos de escritório?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Escritório com mesas segmentadas x escritório boutique ?</a:t>
            </a:r>
          </a:p>
          <a:p>
            <a:endParaRPr lang="pt-BR" dirty="0"/>
          </a:p>
          <a:p>
            <a:r>
              <a:rPr lang="pt-BR" dirty="0"/>
              <a:t>Como muda seu trabalho em cada modelo?</a:t>
            </a:r>
          </a:p>
          <a:p>
            <a:endParaRPr lang="pt-BR" dirty="0"/>
          </a:p>
          <a:p>
            <a:r>
              <a:rPr lang="pt-BR" dirty="0"/>
              <a:t>Como muda sua remuneração em cada modelo?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556076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Trabalhando em uma sociedade</a:t>
            </a:r>
          </a:p>
        </p:txBody>
      </p:sp>
    </p:spTree>
    <p:extLst>
      <p:ext uri="{BB962C8B-B14F-4D97-AF65-F5344CB8AC3E}">
        <p14:creationId xmlns:p14="http://schemas.microsoft.com/office/powerpoint/2010/main" val="331165745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Seja sócio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Mensagem que enviei aos meus sócios:</a:t>
            </a:r>
          </a:p>
          <a:p>
            <a:pPr marL="457200" lvl="1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5A05D86-3390-382C-9F9B-D0E742635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460" y="2697220"/>
            <a:ext cx="6774451" cy="339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9389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Seja sócio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você se comportar como empregado, terá mentalidade e carreira de empregado</a:t>
            </a:r>
          </a:p>
          <a:p>
            <a:pPr lvl="1"/>
            <a:r>
              <a:rPr lang="pt-BR" dirty="0"/>
              <a:t>Não há nada de errado com isso</a:t>
            </a:r>
          </a:p>
          <a:p>
            <a:endParaRPr lang="pt-BR" dirty="0"/>
          </a:p>
          <a:p>
            <a:r>
              <a:rPr lang="pt-BR" dirty="0"/>
              <a:t>Tenha cabeça de dono e seu negócio crescerá</a:t>
            </a:r>
          </a:p>
          <a:p>
            <a:endParaRPr lang="pt-BR" dirty="0"/>
          </a:p>
          <a:p>
            <a:r>
              <a:rPr lang="pt-BR" dirty="0"/>
              <a:t>Ser sócio não é ganhar dividendos</a:t>
            </a:r>
          </a:p>
          <a:p>
            <a:pPr lvl="1"/>
            <a:r>
              <a:rPr lang="pt-BR" dirty="0"/>
              <a:t>Exemplo do assessor que explicou qual periodicidade ele precisava ir ao escritório</a:t>
            </a:r>
          </a:p>
          <a:p>
            <a:endParaRPr lang="pt-BR" dirty="0"/>
          </a:p>
          <a:p>
            <a:r>
              <a:rPr lang="pt-BR" dirty="0"/>
              <a:t>O que é ser sócio?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457200" lvl="1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943945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Você Não É Gestor...</a:t>
            </a:r>
          </a:p>
        </p:txBody>
      </p:sp>
    </p:spTree>
    <p:extLst>
      <p:ext uri="{BB962C8B-B14F-4D97-AF65-F5344CB8AC3E}">
        <p14:creationId xmlns:p14="http://schemas.microsoft.com/office/powerpoint/2010/main" val="275944419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 proibido ao Assessor atuar como: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Administrador ou gestor de carteira ;</a:t>
            </a:r>
          </a:p>
          <a:p>
            <a:endParaRPr lang="pt-BR" dirty="0"/>
          </a:p>
          <a:p>
            <a:r>
              <a:rPr lang="pt-BR" dirty="0"/>
              <a:t>Analista de Valores Mobiliários;</a:t>
            </a:r>
          </a:p>
          <a:p>
            <a:endParaRPr lang="pt-BR" dirty="0"/>
          </a:p>
          <a:p>
            <a:r>
              <a:rPr lang="pt-BR" dirty="0"/>
              <a:t>Consultor de Investimentos; </a:t>
            </a:r>
          </a:p>
          <a:p>
            <a:endParaRPr lang="pt-BR" dirty="0"/>
          </a:p>
          <a:p>
            <a:r>
              <a:rPr lang="pt-BR" dirty="0"/>
              <a:t>Gestor de Clube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Multa = R$ 50 mil a R$ 80 mil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602900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Quanto rende? </a:t>
            </a:r>
          </a:p>
        </p:txBody>
      </p:sp>
    </p:spTree>
    <p:extLst>
      <p:ext uri="{BB962C8B-B14F-4D97-AF65-F5344CB8AC3E}">
        <p14:creationId xmlns:p14="http://schemas.microsoft.com/office/powerpoint/2010/main" val="175696846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Assessor não deve prometer rentabilidade futura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Quem nunca sofreu a pressão de um cliente questionando a rentabilidade?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Multa = R$ 20 mil a R$ 50 mil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083003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A sinceridade que não fere</a:t>
            </a:r>
          </a:p>
        </p:txBody>
      </p:sp>
    </p:spTree>
    <p:extLst>
      <p:ext uri="{BB962C8B-B14F-4D97-AF65-F5344CB8AC3E}">
        <p14:creationId xmlns:p14="http://schemas.microsoft.com/office/powerpoint/2010/main" val="306469739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 proibido omitir informações sobre perdas potenciais ou realizadas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omissão é tão ruim quanto uma promessa enganosa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Multa = R$20 mil  a R$ 50 mil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828830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32B7E3-C23C-626B-09C8-7DC178F2C6F6}"/>
              </a:ext>
            </a:extLst>
          </p:cNvPr>
          <p:cNvSpPr txBox="1">
            <a:spLocks/>
          </p:cNvSpPr>
          <p:nvPr/>
        </p:nvSpPr>
        <p:spPr>
          <a:xfrm>
            <a:off x="3834114" y="3293496"/>
            <a:ext cx="7689669" cy="575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spc="-150">
                <a:solidFill>
                  <a:srgbClr val="002060"/>
                </a:solidFill>
                <a:latin typeface="Andale Mono" panose="020B0509000000000004" pitchFamily="49" charset="0"/>
                <a:ea typeface="+mj-ea"/>
                <a:cs typeface="+mj-cs"/>
              </a:defRPr>
            </a:lvl1pPr>
          </a:lstStyle>
          <a:p>
            <a:r>
              <a:rPr lang="pt-BR"/>
              <a:t>Esta ação está barata! 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961323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 proibida a: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Indução de negociação excessiva de renda variável; </a:t>
            </a:r>
          </a:p>
          <a:p>
            <a:endParaRPr lang="pt-BR" dirty="0"/>
          </a:p>
          <a:p>
            <a:r>
              <a:rPr lang="pt-BR" dirty="0"/>
              <a:t>Insistência a contragosto do cliente.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Multa = R$ 5 mil a R$ 10mil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994168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32B7E3-C23C-626B-09C8-7DC178F2C6F6}"/>
              </a:ext>
            </a:extLst>
          </p:cNvPr>
          <p:cNvSpPr txBox="1">
            <a:spLocks/>
          </p:cNvSpPr>
          <p:nvPr/>
        </p:nvSpPr>
        <p:spPr>
          <a:xfrm>
            <a:off x="3834114" y="3293496"/>
            <a:ext cx="7689669" cy="575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spc="-150">
                <a:solidFill>
                  <a:srgbClr val="002060"/>
                </a:solidFill>
                <a:latin typeface="Andale Mono" panose="020B0509000000000004" pitchFamily="49" charset="0"/>
                <a:ea typeface="+mj-ea"/>
                <a:cs typeface="+mj-cs"/>
              </a:defRPr>
            </a:lvl1pPr>
          </a:lstStyle>
          <a:p>
            <a:r>
              <a:rPr lang="pt-BR" dirty="0"/>
              <a:t>Ganha - Ganha  </a:t>
            </a:r>
          </a:p>
        </p:txBody>
      </p:sp>
    </p:spTree>
    <p:extLst>
      <p:ext uri="{BB962C8B-B14F-4D97-AF65-F5344CB8AC3E}">
        <p14:creationId xmlns:p14="http://schemas.microsoft.com/office/powerpoint/2010/main" val="267254052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Assessor deve: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Priorizar os interesses dos clientes em relação aos interesses próprios.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Multa = R$ 5 mil a R$ 10mil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838534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32B7E3-C23C-626B-09C8-7DC178F2C6F6}"/>
              </a:ext>
            </a:extLst>
          </p:cNvPr>
          <p:cNvSpPr txBox="1">
            <a:spLocks/>
          </p:cNvSpPr>
          <p:nvPr/>
        </p:nvSpPr>
        <p:spPr>
          <a:xfrm>
            <a:off x="3834114" y="3293496"/>
            <a:ext cx="7689669" cy="575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spc="-150">
                <a:solidFill>
                  <a:srgbClr val="002060"/>
                </a:solidFill>
                <a:latin typeface="Andale Mono" panose="020B0509000000000004" pitchFamily="49" charset="0"/>
                <a:ea typeface="+mj-ea"/>
                <a:cs typeface="+mj-cs"/>
              </a:defRPr>
            </a:lvl1pPr>
          </a:lstStyle>
          <a:p>
            <a:r>
              <a:rPr lang="pt-BR" dirty="0"/>
              <a:t>Tudo posso, mas nem tudo me convém</a:t>
            </a:r>
          </a:p>
        </p:txBody>
      </p:sp>
    </p:spTree>
    <p:extLst>
      <p:ext uri="{BB962C8B-B14F-4D97-AF65-F5344CB8AC3E}">
        <p14:creationId xmlns:p14="http://schemas.microsoft.com/office/powerpoint/2010/main" val="224544648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Fidelidade a sua Corretora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Você deve ser supervisionado por sua corretora</a:t>
            </a:r>
          </a:p>
          <a:p>
            <a:pPr lvl="1"/>
            <a:r>
              <a:rPr lang="pt-BR" dirty="0"/>
              <a:t>É proibido ficar insolvente</a:t>
            </a:r>
          </a:p>
          <a:p>
            <a:endParaRPr lang="pt-BR" dirty="0"/>
          </a:p>
          <a:p>
            <a:r>
              <a:rPr lang="pt-BR" dirty="0"/>
              <a:t>É proibido vender produtos competitivos com a Corretora que você distribui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Multa = R$ 5 mil a R$ 10mil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473725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32B7E3-C23C-626B-09C8-7DC178F2C6F6}"/>
              </a:ext>
            </a:extLst>
          </p:cNvPr>
          <p:cNvSpPr txBox="1">
            <a:spLocks/>
          </p:cNvSpPr>
          <p:nvPr/>
        </p:nvSpPr>
        <p:spPr>
          <a:xfrm>
            <a:off x="3834114" y="3293496"/>
            <a:ext cx="7689669" cy="575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spc="-150">
                <a:solidFill>
                  <a:srgbClr val="002060"/>
                </a:solidFill>
                <a:latin typeface="Andale Mono" panose="020B0509000000000004" pitchFamily="49" charset="0"/>
                <a:ea typeface="+mj-ea"/>
                <a:cs typeface="+mj-cs"/>
              </a:defRPr>
            </a:lvl1pPr>
          </a:lstStyle>
          <a:p>
            <a:r>
              <a:rPr lang="pt-BR" dirty="0"/>
              <a:t>O segredo é a alma do negócio...</a:t>
            </a:r>
          </a:p>
        </p:txBody>
      </p:sp>
    </p:spTree>
    <p:extLst>
      <p:ext uri="{BB962C8B-B14F-4D97-AF65-F5344CB8AC3E}">
        <p14:creationId xmlns:p14="http://schemas.microsoft.com/office/powerpoint/2010/main" val="45028976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Assessor deve: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Manter sigilo da condição de cliente.</a:t>
            </a:r>
          </a:p>
          <a:p>
            <a:endParaRPr lang="pt-BR" dirty="0"/>
          </a:p>
          <a:p>
            <a:r>
              <a:rPr lang="pt-BR" dirty="0"/>
              <a:t>Zelar pelos dados do cliente – Segurança da Informação e LGPD.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Multa = R$ 50 mil  a R$ 80 mil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508141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Se qualificar não é só tirar diploma</a:t>
            </a:r>
          </a:p>
        </p:txBody>
      </p:sp>
    </p:spTree>
    <p:extLst>
      <p:ext uri="{BB962C8B-B14F-4D97-AF65-F5344CB8AC3E}">
        <p14:creationId xmlns:p14="http://schemas.microsoft.com/office/powerpoint/2010/main" val="201899190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Você tem de se desenvolver nas três frentes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Quais as três atividades de um assessor?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Esse é um tripé. Não adianta ter só uma habilidade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O ponto positivo é que são habilidades. Portanto, qualquer um pode desenvolvê-las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385096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Um bom assessor é um bom vendedor, </a:t>
            </a:r>
            <a:br>
              <a:rPr lang="pt-BR" dirty="0"/>
            </a:br>
            <a:r>
              <a:rPr lang="pt-BR" dirty="0"/>
              <a:t>mas um bom vendedor não necessariamente é um bom assessor</a:t>
            </a:r>
          </a:p>
        </p:txBody>
      </p:sp>
    </p:spTree>
    <p:extLst>
      <p:ext uri="{BB962C8B-B14F-4D97-AF65-F5344CB8AC3E}">
        <p14:creationId xmlns:p14="http://schemas.microsoft.com/office/powerpoint/2010/main" val="14556620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Todos somos vendedores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Mas nem todos são bons vendedores</a:t>
            </a:r>
          </a:p>
          <a:p>
            <a:endParaRPr lang="pt-BR" dirty="0"/>
          </a:p>
          <a:p>
            <a:r>
              <a:rPr lang="pt-BR" dirty="0"/>
              <a:t>O que fazer para se desenvolver?</a:t>
            </a:r>
          </a:p>
          <a:p>
            <a:pPr lvl="1"/>
            <a:r>
              <a:rPr lang="pt-BR" dirty="0"/>
              <a:t>livros de vendas</a:t>
            </a:r>
          </a:p>
          <a:p>
            <a:pPr lvl="1"/>
            <a:r>
              <a:rPr lang="pt-BR" dirty="0"/>
              <a:t>palestras de vendas</a:t>
            </a:r>
          </a:p>
          <a:p>
            <a:pPr lvl="1"/>
            <a:r>
              <a:rPr lang="pt-BR" dirty="0"/>
              <a:t>observar os bons vendedores</a:t>
            </a:r>
          </a:p>
          <a:p>
            <a:pPr lvl="1"/>
            <a:r>
              <a:rPr lang="pt-BR" dirty="0"/>
              <a:t>colocar em prática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630360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Habilidades de relacionamento</a:t>
            </a:r>
          </a:p>
        </p:txBody>
      </p:sp>
    </p:spTree>
    <p:extLst>
      <p:ext uri="{BB962C8B-B14F-4D97-AF65-F5344CB8AC3E}">
        <p14:creationId xmlns:p14="http://schemas.microsoft.com/office/powerpoint/2010/main" val="181735155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Todo mundo deseja comprar algo de alguém que ele gosta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Algumas pessoas são magnéticas. O que elas possuem?</a:t>
            </a:r>
          </a:p>
          <a:p>
            <a:endParaRPr lang="pt-BR" dirty="0"/>
          </a:p>
          <a:p>
            <a:r>
              <a:rPr lang="pt-BR" dirty="0"/>
              <a:t>Tente lembrar das pessoas que te tratam bem e vendem algum serviço.</a:t>
            </a:r>
          </a:p>
          <a:p>
            <a:pPr lvl="1"/>
            <a:r>
              <a:rPr lang="pt-BR" dirty="0"/>
              <a:t>Exemplo da banca de banana e de mamão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Se comporte como um médico missionário.</a:t>
            </a:r>
          </a:p>
          <a:p>
            <a:endParaRPr lang="pt-BR" dirty="0"/>
          </a:p>
          <a:p>
            <a:r>
              <a:rPr lang="pt-BR" dirty="0"/>
              <a:t>O que fazer para se desenvolver?</a:t>
            </a:r>
          </a:p>
          <a:p>
            <a:pPr lvl="1"/>
            <a:r>
              <a:rPr lang="pt-BR" dirty="0"/>
              <a:t>livros de relacionamento pessoal: Coleção Dale Carnegie</a:t>
            </a:r>
          </a:p>
          <a:p>
            <a:pPr lvl="1"/>
            <a:r>
              <a:rPr lang="pt-BR" dirty="0"/>
              <a:t>palestras de motivacionais</a:t>
            </a:r>
          </a:p>
          <a:p>
            <a:pPr lvl="1"/>
            <a:r>
              <a:rPr lang="pt-BR" dirty="0"/>
              <a:t>observar as pessoas que atraem outras</a:t>
            </a:r>
          </a:p>
          <a:p>
            <a:pPr lvl="1"/>
            <a:r>
              <a:rPr lang="pt-BR" dirty="0"/>
              <a:t>colocar em prática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04343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A qualificação técnica te dá autoridade</a:t>
            </a:r>
          </a:p>
        </p:txBody>
      </p:sp>
    </p:spTree>
    <p:extLst>
      <p:ext uri="{BB962C8B-B14F-4D97-AF65-F5344CB8AC3E}">
        <p14:creationId xmlns:p14="http://schemas.microsoft.com/office/powerpoint/2010/main" val="242965172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adianta apenas você ser um bom vendedor e as pessoas gostarem de você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fundamental saber profundamente do seu negócio</a:t>
            </a:r>
          </a:p>
          <a:p>
            <a:endParaRPr lang="pt-BR" dirty="0"/>
          </a:p>
          <a:p>
            <a:r>
              <a:rPr lang="pt-BR" dirty="0"/>
              <a:t>Três elementos: </a:t>
            </a:r>
          </a:p>
          <a:p>
            <a:pPr lvl="1"/>
            <a:r>
              <a:rPr lang="pt-BR" dirty="0"/>
              <a:t>Economia, </a:t>
            </a:r>
          </a:p>
          <a:p>
            <a:pPr lvl="1"/>
            <a:r>
              <a:rPr lang="pt-BR" dirty="0"/>
              <a:t>mercado financeiro e </a:t>
            </a:r>
          </a:p>
          <a:p>
            <a:pPr lvl="1"/>
            <a:r>
              <a:rPr lang="pt-BR" dirty="0"/>
              <a:t>produtos</a:t>
            </a:r>
          </a:p>
          <a:p>
            <a:endParaRPr lang="pt-BR" dirty="0"/>
          </a:p>
          <a:p>
            <a:r>
              <a:rPr lang="pt-BR" dirty="0"/>
              <a:t>Estude economia o suficiente para dar palestra</a:t>
            </a:r>
          </a:p>
          <a:p>
            <a:pPr lvl="1"/>
            <a:r>
              <a:rPr lang="pt-BR" dirty="0"/>
              <a:t>Ler livros. Comece pelos de Economia para Executivos (Fabio Giambiagi)</a:t>
            </a:r>
          </a:p>
          <a:p>
            <a:pPr lvl="1"/>
            <a:r>
              <a:rPr lang="pt-BR" dirty="0"/>
              <a:t>Cursos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910635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adianta apenas você ser um bom vendedor e as pessoas gostarem de você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Mercado financeiro</a:t>
            </a:r>
          </a:p>
          <a:p>
            <a:pPr lvl="1"/>
            <a:r>
              <a:rPr lang="pt-BR" dirty="0"/>
              <a:t>Entenda as classes de ativos e suas relações</a:t>
            </a:r>
          </a:p>
          <a:p>
            <a:pPr lvl="1"/>
            <a:r>
              <a:rPr lang="pt-BR" dirty="0"/>
              <a:t>Para cada classe de ativo, tente compreender o que a movimenta</a:t>
            </a:r>
          </a:p>
          <a:p>
            <a:r>
              <a:rPr lang="pt-BR" dirty="0"/>
              <a:t>Leia livros acadêmicos de investimentos, faça cursos e certificações</a:t>
            </a:r>
          </a:p>
          <a:p>
            <a:pPr lvl="1"/>
            <a:r>
              <a:rPr lang="pt-BR" dirty="0"/>
              <a:t>Investimentos (</a:t>
            </a:r>
            <a:r>
              <a:rPr lang="pt-BR" dirty="0" err="1"/>
              <a:t>Bodie</a:t>
            </a:r>
            <a:r>
              <a:rPr lang="pt-BR" dirty="0"/>
              <a:t>, Kane e Marcus)</a:t>
            </a:r>
          </a:p>
          <a:p>
            <a:pPr lvl="1"/>
            <a:r>
              <a:rPr lang="pt-BR" dirty="0"/>
              <a:t>Finanças Corporativas (Ross, </a:t>
            </a:r>
            <a:r>
              <a:rPr lang="pt-BR" dirty="0" err="1"/>
              <a:t>Westerfield</a:t>
            </a:r>
            <a:r>
              <a:rPr lang="pt-BR" dirty="0"/>
              <a:t>, </a:t>
            </a:r>
            <a:r>
              <a:rPr lang="pt-BR" dirty="0" err="1"/>
              <a:t>Jaff</a:t>
            </a:r>
            <a:r>
              <a:rPr lang="pt-BR" dirty="0"/>
              <a:t>  e Lamb)</a:t>
            </a:r>
          </a:p>
          <a:p>
            <a:pPr lvl="1"/>
            <a:r>
              <a:rPr lang="pt-BR" dirty="0"/>
              <a:t>CFP</a:t>
            </a:r>
          </a:p>
          <a:p>
            <a:endParaRPr lang="pt-BR" dirty="0"/>
          </a:p>
          <a:p>
            <a:r>
              <a:rPr lang="pt-BR" dirty="0"/>
              <a:t>Entenda bem os riscos e potencias de cada produto que você distribui</a:t>
            </a:r>
          </a:p>
          <a:p>
            <a:pPr lvl="1"/>
            <a:r>
              <a:rPr lang="pt-BR" dirty="0"/>
              <a:t>Assista as apresentações</a:t>
            </a:r>
          </a:p>
          <a:p>
            <a:pPr lvl="1"/>
            <a:r>
              <a:rPr lang="pt-BR" dirty="0"/>
              <a:t>Converse com os gestores</a:t>
            </a:r>
          </a:p>
          <a:p>
            <a:pPr lvl="1"/>
            <a:r>
              <a:rPr lang="pt-BR" dirty="0"/>
              <a:t>Pergunte</a:t>
            </a:r>
          </a:p>
          <a:p>
            <a:pPr lvl="1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248764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Ainda há espaço para captar</a:t>
            </a:r>
          </a:p>
        </p:txBody>
      </p:sp>
    </p:spTree>
    <p:extLst>
      <p:ext uri="{BB962C8B-B14F-4D97-AF65-F5344CB8AC3E}">
        <p14:creationId xmlns:p14="http://schemas.microsoft.com/office/powerpoint/2010/main" val="414509222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essa atividade deve se desenvolver?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Pirâmide etária brasileira hoje e em 20 anos. 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1BC668-B5B0-F437-8F1B-A5BECF341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296" y="2483176"/>
            <a:ext cx="3091709" cy="325898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9B313CE-35CF-EFF6-DA86-C9762D4BD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289" y="2459566"/>
            <a:ext cx="3091710" cy="32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9069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Viver de corretagem não é algo sustentável</a:t>
            </a:r>
          </a:p>
        </p:txBody>
      </p:sp>
    </p:spTree>
    <p:extLst>
      <p:ext uri="{BB962C8B-B14F-4D97-AF65-F5344CB8AC3E}">
        <p14:creationId xmlns:p14="http://schemas.microsoft.com/office/powerpoint/2010/main" val="196893775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Plataformas online e corretagem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passado, não havia home broker</a:t>
            </a:r>
          </a:p>
          <a:p>
            <a:pPr lvl="1"/>
            <a:r>
              <a:rPr lang="pt-BR" dirty="0"/>
              <a:t>Corretagem de mesa na tabela B3 rendeu bons resultados no passado</a:t>
            </a:r>
          </a:p>
          <a:p>
            <a:endParaRPr lang="pt-BR" dirty="0"/>
          </a:p>
          <a:p>
            <a:r>
              <a:rPr lang="pt-BR" dirty="0"/>
              <a:t>Home Broker surgiu em 1999, mas se popularizou nos últimos cinco anos</a:t>
            </a:r>
          </a:p>
          <a:p>
            <a:endParaRPr lang="pt-BR" dirty="0"/>
          </a:p>
          <a:p>
            <a:r>
              <a:rPr lang="pt-BR" dirty="0"/>
              <a:t>O que isso muda?</a:t>
            </a:r>
          </a:p>
          <a:p>
            <a:pPr lvl="1"/>
            <a:r>
              <a:rPr lang="pt-BR" dirty="0"/>
              <a:t>O que comprar e vender não é mais diferencial</a:t>
            </a:r>
          </a:p>
          <a:p>
            <a:endParaRPr lang="pt-BR" dirty="0"/>
          </a:p>
          <a:p>
            <a:r>
              <a:rPr lang="pt-BR" dirty="0"/>
              <a:t>Plataformas de informações e dicas estão com custos cada vez menores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177727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o sentido do desenvolvimento?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Produto -&gt; Orientação</a:t>
            </a:r>
          </a:p>
          <a:p>
            <a:endParaRPr lang="pt-BR" dirty="0"/>
          </a:p>
          <a:p>
            <a:r>
              <a:rPr lang="pt-BR" dirty="0"/>
              <a:t>Comissão -&gt; consultoria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44105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Expansão internacional</a:t>
            </a:r>
          </a:p>
        </p:txBody>
      </p:sp>
    </p:spTree>
    <p:extLst>
      <p:ext uri="{BB962C8B-B14F-4D97-AF65-F5344CB8AC3E}">
        <p14:creationId xmlns:p14="http://schemas.microsoft.com/office/powerpoint/2010/main" val="76686506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Investimento global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Home </a:t>
            </a:r>
            <a:r>
              <a:rPr lang="pt-BR" i="1" dirty="0" err="1"/>
              <a:t>biased</a:t>
            </a:r>
            <a:endParaRPr lang="pt-BR" i="1" dirty="0"/>
          </a:p>
          <a:p>
            <a:pPr lvl="1"/>
            <a:r>
              <a:rPr lang="pt-BR" dirty="0"/>
              <a:t>Proximidade x compreensão</a:t>
            </a:r>
          </a:p>
          <a:p>
            <a:endParaRPr lang="pt-BR" dirty="0"/>
          </a:p>
          <a:p>
            <a:r>
              <a:rPr lang="pt-BR" dirty="0"/>
              <a:t>Taxa de juros</a:t>
            </a:r>
          </a:p>
          <a:p>
            <a:endParaRPr lang="pt-BR" dirty="0"/>
          </a:p>
          <a:p>
            <a:r>
              <a:rPr lang="pt-BR" dirty="0"/>
              <a:t>Diversificação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431087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/>
          </a:bodyPr>
          <a:lstStyle/>
          <a:p>
            <a:r>
              <a:rPr lang="pt-BR" dirty="0"/>
              <a:t>Qualificação será chave</a:t>
            </a:r>
          </a:p>
        </p:txBody>
      </p:sp>
    </p:spTree>
    <p:extLst>
      <p:ext uri="{BB962C8B-B14F-4D97-AF65-F5344CB8AC3E}">
        <p14:creationId xmlns:p14="http://schemas.microsoft.com/office/powerpoint/2010/main" val="265654523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4FBA-FB76-5F4D-A4BD-10679E0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Grande competição só existe na base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DB0F-6C0B-7F45-82D0-13EA399B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maioria dos negócios tem esta configuração</a:t>
            </a:r>
          </a:p>
          <a:p>
            <a:endParaRPr lang="pt-BR" dirty="0"/>
          </a:p>
          <a:p>
            <a:r>
              <a:rPr lang="pt-BR" dirty="0"/>
              <a:t>Onde está a competição?</a:t>
            </a:r>
          </a:p>
          <a:p>
            <a:endParaRPr lang="pt-BR" dirty="0"/>
          </a:p>
          <a:p>
            <a:r>
              <a:rPr lang="pt-BR" dirty="0"/>
              <a:t>O que fazer para estar nos 10%?</a:t>
            </a:r>
          </a:p>
          <a:p>
            <a:endParaRPr lang="pt-BR" dirty="0"/>
          </a:p>
          <a:p>
            <a:r>
              <a:rPr lang="pt-BR" dirty="0"/>
              <a:t>Qualificação e reconhecimento</a:t>
            </a:r>
          </a:p>
          <a:p>
            <a:pPr lvl="1"/>
            <a:r>
              <a:rPr lang="pt-BR" dirty="0"/>
              <a:t>Certificações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53A8C-C6D7-4D47-9B15-E4C5F4D1D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Michael Viriato      Assessoria de Investimentos em Alta Performance</a:t>
            </a:r>
            <a:endParaRPr lang="pt-BR" dirty="0"/>
          </a:p>
        </p:txBody>
      </p:sp>
      <p:sp>
        <p:nvSpPr>
          <p:cNvPr id="4" name="Triângulo isósceles 3">
            <a:extLst>
              <a:ext uri="{FF2B5EF4-FFF2-40B4-BE49-F238E27FC236}">
                <a16:creationId xmlns:a16="http://schemas.microsoft.com/office/drawing/2014/main" id="{3096A54C-A878-9FB6-98F1-4840BE3F221D}"/>
              </a:ext>
            </a:extLst>
          </p:cNvPr>
          <p:cNvSpPr/>
          <p:nvPr/>
        </p:nvSpPr>
        <p:spPr>
          <a:xfrm>
            <a:off x="7295534" y="1998860"/>
            <a:ext cx="2989007" cy="2091359"/>
          </a:xfrm>
          <a:prstGeom prst="triangle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70%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EB79DBD-D843-E45D-AABD-E30328CCE6A6}"/>
              </a:ext>
            </a:extLst>
          </p:cNvPr>
          <p:cNvCxnSpPr>
            <a:cxnSpLocks/>
          </p:cNvCxnSpPr>
          <p:nvPr/>
        </p:nvCxnSpPr>
        <p:spPr>
          <a:xfrm>
            <a:off x="7944464" y="3170902"/>
            <a:ext cx="1632155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CE3A1EB-D17E-1EFA-71A9-3F097465D627}"/>
              </a:ext>
            </a:extLst>
          </p:cNvPr>
          <p:cNvCxnSpPr>
            <a:cxnSpLocks/>
          </p:cNvCxnSpPr>
          <p:nvPr/>
        </p:nvCxnSpPr>
        <p:spPr>
          <a:xfrm>
            <a:off x="8357419" y="2598174"/>
            <a:ext cx="845575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D51AA0A-3B8D-154B-13EB-0838B4D63C83}"/>
              </a:ext>
            </a:extLst>
          </p:cNvPr>
          <p:cNvSpPr txBox="1"/>
          <p:nvPr/>
        </p:nvSpPr>
        <p:spPr>
          <a:xfrm>
            <a:off x="8406579" y="2719987"/>
            <a:ext cx="76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20%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65FC3EC-E80A-E19C-BA3A-18DC24A3A6B7}"/>
              </a:ext>
            </a:extLst>
          </p:cNvPr>
          <p:cNvSpPr txBox="1"/>
          <p:nvPr/>
        </p:nvSpPr>
        <p:spPr>
          <a:xfrm>
            <a:off x="8465575" y="2187124"/>
            <a:ext cx="727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283842173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MBA">
  <a:themeElements>
    <a:clrScheme name="CORES MBA">
      <a:dk1>
        <a:srgbClr val="000000"/>
      </a:dk1>
      <a:lt1>
        <a:srgbClr val="FFFFFF"/>
      </a:lt1>
      <a:dk2>
        <a:srgbClr val="082785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MBA" id="{B099FE1B-BCF6-B146-A112-CC04D40207C5}" vid="{7A7CBC7C-7F2B-8840-B925-44B674A6383D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577</TotalTime>
  <Words>4676</Words>
  <Application>Microsoft Office PowerPoint</Application>
  <PresentationFormat>Widescreen</PresentationFormat>
  <Paragraphs>779</Paragraphs>
  <Slides>144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144</vt:i4>
      </vt:variant>
    </vt:vector>
  </HeadingPairs>
  <TitlesOfParts>
    <vt:vector size="149" baseType="lpstr">
      <vt:lpstr>Andale Mono</vt:lpstr>
      <vt:lpstr>Arial</vt:lpstr>
      <vt:lpstr>Calibri</vt:lpstr>
      <vt:lpstr>Personalizar design</vt:lpstr>
      <vt:lpstr>1_TEMA MBA</vt:lpstr>
      <vt:lpstr>Como alcancei um patrimônio individual superior a  R$ 1 bi sob administração</vt:lpstr>
      <vt:lpstr>Minha carreira</vt:lpstr>
      <vt:lpstr>Carreira</vt:lpstr>
      <vt:lpstr>O começo</vt:lpstr>
      <vt:lpstr>O começo</vt:lpstr>
      <vt:lpstr>Toda jornada deve ser dividida</vt:lpstr>
      <vt:lpstr>Disciplina, disciplina e disciplina</vt:lpstr>
      <vt:lpstr>Mercado de assessoria está saturado</vt:lpstr>
      <vt:lpstr>Não existe mercado saturado para quem é excelente no que faz</vt:lpstr>
      <vt:lpstr>O que faz um assessor de investimentos?</vt:lpstr>
      <vt:lpstr>O que sua mãe acha que você faz?</vt:lpstr>
      <vt:lpstr>As três atividades básicas</vt:lpstr>
      <vt:lpstr>Desafios e atividades</vt:lpstr>
      <vt:lpstr>Assessoria não é emprego, mas sociedade</vt:lpstr>
      <vt:lpstr>O que fazer para vencer os desafios?</vt:lpstr>
      <vt:lpstr>Disciplina, disciplina e disciplina</vt:lpstr>
      <vt:lpstr>Mercado de assessoria está saturado?</vt:lpstr>
      <vt:lpstr>Antes de começar, entenda isso</vt:lpstr>
      <vt:lpstr>Se você resolver problemas, vai captar</vt:lpstr>
      <vt:lpstr>Não somos vendedores com uma missão,  mas missionários que vendem</vt:lpstr>
      <vt:lpstr>Cliente não está atrás de um vendedor, mas de alguém que o ajude</vt:lpstr>
      <vt:lpstr>Existem duas reclamações básicas de clientes</vt:lpstr>
      <vt:lpstr>Contato e retorno</vt:lpstr>
      <vt:lpstr>O  cliente só vai te indicar se estiver satisfeito com retorno ou atendimento</vt:lpstr>
      <vt:lpstr>O retorno não está muito bom, mas ...</vt:lpstr>
      <vt:lpstr>Você NÃO deve ganhar em detrimento de seu cliente, mas junto com seu cliente</vt:lpstr>
      <vt:lpstr>Se você tem vergonha de explicar a comissão, você está fazendo algo errado com o cliente</vt:lpstr>
      <vt:lpstr>Posicionamento estratégico</vt:lpstr>
      <vt:lpstr>PJ ou PF</vt:lpstr>
      <vt:lpstr>Precisa escolher?</vt:lpstr>
      <vt:lpstr>Faz diferença focar em um segmento?</vt:lpstr>
      <vt:lpstr>Segmentação de clientes</vt:lpstr>
      <vt:lpstr>Segmentação de clientes</vt:lpstr>
      <vt:lpstr>Especialização</vt:lpstr>
      <vt:lpstr>Farmer ou Hunter ?</vt:lpstr>
      <vt:lpstr>O que fazer nos primeiro seis meses</vt:lpstr>
      <vt:lpstr>Seja um foguete</vt:lpstr>
      <vt:lpstr>O grande anúncio</vt:lpstr>
      <vt:lpstr>Você deve ser uma autoridade</vt:lpstr>
      <vt:lpstr>Como deve ser um private banker?</vt:lpstr>
      <vt:lpstr>Não existe mercado saturado para quem é excelente no que faz</vt:lpstr>
      <vt:lpstr>Assessor é uma atividade flexível, mas  flexível não é o que você pensa</vt:lpstr>
      <vt:lpstr>Falar de comissão não pode ser um Tabu</vt:lpstr>
      <vt:lpstr>Se você tem vergonha de explicar a comissão, você está fazendo algo errado com o cliente</vt:lpstr>
      <vt:lpstr>Se você tem vergonha de explicar a comissão, você está fazendo algo errado com o cliente</vt:lpstr>
      <vt:lpstr>Você NÃO deve ganhar em detrimento de seu cliente, mas junto com seu cliente</vt:lpstr>
      <vt:lpstr>Produtos que têm potencial de dúvida sobre conflito de interesse, devem ser ainda mais detalhados</vt:lpstr>
      <vt:lpstr>Seu cliente não deve pagar mais do que você paga como cliente</vt:lpstr>
      <vt:lpstr>O melhor termômetro se você está fazendo algo errado com o cliente é sua carteira</vt:lpstr>
      <vt:lpstr>Mostre ao seu cliente que ele te paga mais por indicação que por comissão</vt:lpstr>
      <vt:lpstr>Indicação x Comissão</vt:lpstr>
      <vt:lpstr>O que é uma reunião bem sucedida?</vt:lpstr>
      <vt:lpstr>O primeiro contato define quem você é</vt:lpstr>
      <vt:lpstr>Não dê de graça o que você vende</vt:lpstr>
      <vt:lpstr>Na primeira reunião você não dá, mas, preferencialmente, recebe</vt:lpstr>
      <vt:lpstr>Cuidado em querer mostrar o que sabe na primeira reunião </vt:lpstr>
      <vt:lpstr>Cuidado em querer mostrar o que sabe na primeira reunião </vt:lpstr>
      <vt:lpstr>Seja profissional e organizado</vt:lpstr>
      <vt:lpstr>Em uma reunião, você precisa mostrar que sabe o que está fazendo</vt:lpstr>
      <vt:lpstr>Em uma reunião bem-sucedida,  o cliente já sai com vontade de indicar você</vt:lpstr>
      <vt:lpstr>A chave do sucesso</vt:lpstr>
      <vt:lpstr>Em qualquer atividade, a chave está no ponto crítico</vt:lpstr>
      <vt:lpstr>Todos são potenciais clientes</vt:lpstr>
      <vt:lpstr>Todos que possuem despesa maior que o INSS precisam de sua ajuda</vt:lpstr>
      <vt:lpstr>Você pode chegar a R$ 1 bi com indicação</vt:lpstr>
      <vt:lpstr>O que precisa ocorrer para ter indicação?</vt:lpstr>
      <vt:lpstr>Pedir indicação???</vt:lpstr>
      <vt:lpstr>Quais os veículos e formas para captar no inorgânico?</vt:lpstr>
      <vt:lpstr>Indicação pode ser natural, mas atração vai demandar ação</vt:lpstr>
      <vt:lpstr>Indicação pode ser natural, mas atração vai demandar ação</vt:lpstr>
      <vt:lpstr>Intensidade é melhor que qualidade</vt:lpstr>
      <vt:lpstr>Quando o cliente ganha, você ganha em dobro</vt:lpstr>
      <vt:lpstr>Regra 1</vt:lpstr>
      <vt:lpstr>O combinado não sai caro</vt:lpstr>
      <vt:lpstr>Ao montar uma carteira, alerte sobre as faixas de oscilação</vt:lpstr>
      <vt:lpstr>O perfil da carteira de seu cliente não é igual ao seu</vt:lpstr>
      <vt:lpstr>Seu cliente não é você</vt:lpstr>
      <vt:lpstr>Uma carteira com bom desempenho rende mais não só para o cliente</vt:lpstr>
      <vt:lpstr>Você ganha em dobro com o sucesso de seu cliente</vt:lpstr>
      <vt:lpstr>Notícia ruim deve ser dada o quanto antes</vt:lpstr>
      <vt:lpstr>É natural querermos protelar o anúncio de resultado negativo</vt:lpstr>
      <vt:lpstr>Vestindo o jaleco de médico</vt:lpstr>
      <vt:lpstr>Qual atitude tomar quando o desempenho está negativo</vt:lpstr>
      <vt:lpstr>Não fazer nada pode ser fazer muito</vt:lpstr>
      <vt:lpstr>Mude antes que seu cliente mude</vt:lpstr>
      <vt:lpstr>Seu limite de tolerância não é o do cliente</vt:lpstr>
      <vt:lpstr>Vender não é realizar perda A perda já foi realizada</vt:lpstr>
      <vt:lpstr>Saiba mudar</vt:lpstr>
      <vt:lpstr>80% do trabalho é rotina, mas assessoria não é um trabalho rotineiro</vt:lpstr>
      <vt:lpstr>Meu dia</vt:lpstr>
      <vt:lpstr>Home Office x Office</vt:lpstr>
      <vt:lpstr>O que é melhor?</vt:lpstr>
      <vt:lpstr>Apresentação</vt:lpstr>
      <vt:lpstr>Apresentação reflete autoridade</vt:lpstr>
      <vt:lpstr>A quem você daria para administrar seu bem mais precioso?</vt:lpstr>
      <vt:lpstr>Investimentos é uma das portas de entrada, mas você precisa ter soluções financeiras</vt:lpstr>
      <vt:lpstr>Entenda o que o cliente precisa</vt:lpstr>
      <vt:lpstr>Potencial de receita</vt:lpstr>
      <vt:lpstr>Educação: seja pago para aprender</vt:lpstr>
      <vt:lpstr>Aprenda ensinando</vt:lpstr>
      <vt:lpstr>Câmbio</vt:lpstr>
      <vt:lpstr>Viagens e despesas internacionais</vt:lpstr>
      <vt:lpstr>Financiamento</vt:lpstr>
      <vt:lpstr>Nem todo financiamento é caro</vt:lpstr>
      <vt:lpstr>A corretora e o escritório</vt:lpstr>
      <vt:lpstr>Primeiro você escolhe a corretora e depois o escritório</vt:lpstr>
      <vt:lpstr>Modelo de escritório</vt:lpstr>
      <vt:lpstr>Três fatores na escolha do escritório</vt:lpstr>
      <vt:lpstr>Quais os modelos de escritório?</vt:lpstr>
      <vt:lpstr>Trabalhando em uma sociedade</vt:lpstr>
      <vt:lpstr>Seja sócio</vt:lpstr>
      <vt:lpstr>Seja sócio</vt:lpstr>
      <vt:lpstr>Você Não É Gestor...</vt:lpstr>
      <vt:lpstr>É proibido ao Assessor atuar como: </vt:lpstr>
      <vt:lpstr>Quanto rende? </vt:lpstr>
      <vt:lpstr>O Assessor não deve prometer rentabilidade futura</vt:lpstr>
      <vt:lpstr>A sinceridade que não fere</vt:lpstr>
      <vt:lpstr>É proibido omitir informações sobre perdas potenciais ou realizadas</vt:lpstr>
      <vt:lpstr>Apresentação do PowerPoint</vt:lpstr>
      <vt:lpstr>É proibida a: </vt:lpstr>
      <vt:lpstr>Apresentação do PowerPoint</vt:lpstr>
      <vt:lpstr>O Assessor deve:</vt:lpstr>
      <vt:lpstr>Apresentação do PowerPoint</vt:lpstr>
      <vt:lpstr>Fidelidade a sua Corretora</vt:lpstr>
      <vt:lpstr>Apresentação do PowerPoint</vt:lpstr>
      <vt:lpstr>O Assessor deve:</vt:lpstr>
      <vt:lpstr>Se qualificar não é só tirar diploma</vt:lpstr>
      <vt:lpstr>Você tem de se desenvolver nas três frentes</vt:lpstr>
      <vt:lpstr>Um bom assessor é um bom vendedor,  mas um bom vendedor não necessariamente é um bom assessor</vt:lpstr>
      <vt:lpstr>Todos somos vendedores</vt:lpstr>
      <vt:lpstr>Habilidades de relacionamento</vt:lpstr>
      <vt:lpstr>Todo mundo deseja comprar algo de alguém que ele gosta</vt:lpstr>
      <vt:lpstr>A qualificação técnica te dá autoridade</vt:lpstr>
      <vt:lpstr>Não adianta apenas você ser um bom vendedor e as pessoas gostarem de você</vt:lpstr>
      <vt:lpstr>Não adianta apenas você ser um bom vendedor e as pessoas gostarem de você</vt:lpstr>
      <vt:lpstr>Ainda há espaço para captar</vt:lpstr>
      <vt:lpstr>Por que essa atividade deve se desenvolver?</vt:lpstr>
      <vt:lpstr>Viver de corretagem não é algo sustentável</vt:lpstr>
      <vt:lpstr>Plataformas online e corretagem</vt:lpstr>
      <vt:lpstr>Qual o sentido do desenvolvimento?</vt:lpstr>
      <vt:lpstr>Expansão internacional</vt:lpstr>
      <vt:lpstr>Investimento global</vt:lpstr>
      <vt:lpstr>Qualificação será chave</vt:lpstr>
      <vt:lpstr>Grande competição só existe na 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Títulos com tamanho 28 e fonte Andale Mono Negrito</dc:title>
  <dc:creator>Adna Leticia Melo Silva Alves</dc:creator>
  <cp:lastModifiedBy>Matheus Rodrigues Villar</cp:lastModifiedBy>
  <cp:revision>5</cp:revision>
  <dcterms:created xsi:type="dcterms:W3CDTF">2022-04-06T17:41:45Z</dcterms:created>
  <dcterms:modified xsi:type="dcterms:W3CDTF">2023-03-18T23:33:14Z</dcterms:modified>
</cp:coreProperties>
</file>
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  <p:sldMasterId id="2147483662" r:id="rId2"/>
  </p:sldMasterIdLst>
  <p:notesMasterIdLst>
    <p:notesMasterId r:id="rId56"/>
  </p:notesMasterIdLst>
  <p:sldIdLst>
    <p:sldId id="299" r:id="rId3"/>
    <p:sldId id="261" r:id="rId4"/>
    <p:sldId id="332" r:id="rId5"/>
    <p:sldId id="264" r:id="rId6"/>
    <p:sldId id="296" r:id="rId7"/>
    <p:sldId id="302" r:id="rId8"/>
    <p:sldId id="303" r:id="rId9"/>
    <p:sldId id="263" r:id="rId10"/>
    <p:sldId id="265" r:id="rId11"/>
    <p:sldId id="268" r:id="rId12"/>
    <p:sldId id="276" r:id="rId13"/>
    <p:sldId id="277" r:id="rId14"/>
    <p:sldId id="275" r:id="rId15"/>
    <p:sldId id="278" r:id="rId16"/>
    <p:sldId id="308" r:id="rId17"/>
    <p:sldId id="295" r:id="rId18"/>
    <p:sldId id="304" r:id="rId19"/>
    <p:sldId id="266" r:id="rId20"/>
    <p:sldId id="269" r:id="rId21"/>
    <p:sldId id="271" r:id="rId22"/>
    <p:sldId id="270" r:id="rId23"/>
    <p:sldId id="273" r:id="rId24"/>
    <p:sldId id="272" r:id="rId25"/>
    <p:sldId id="274" r:id="rId26"/>
    <p:sldId id="315" r:id="rId27"/>
    <p:sldId id="306" r:id="rId28"/>
    <p:sldId id="309" r:id="rId29"/>
    <p:sldId id="310" r:id="rId30"/>
    <p:sldId id="301" r:id="rId31"/>
    <p:sldId id="279" r:id="rId32"/>
    <p:sldId id="280" r:id="rId33"/>
    <p:sldId id="281" r:id="rId34"/>
    <p:sldId id="282" r:id="rId35"/>
    <p:sldId id="283" r:id="rId36"/>
    <p:sldId id="284" r:id="rId37"/>
    <p:sldId id="331" r:id="rId38"/>
    <p:sldId id="285" r:id="rId39"/>
    <p:sldId id="305" r:id="rId40"/>
    <p:sldId id="286" r:id="rId41"/>
    <p:sldId id="328" r:id="rId42"/>
    <p:sldId id="311" r:id="rId43"/>
    <p:sldId id="314" r:id="rId44"/>
    <p:sldId id="317" r:id="rId45"/>
    <p:sldId id="325" r:id="rId46"/>
    <p:sldId id="326" r:id="rId47"/>
    <p:sldId id="327" r:id="rId48"/>
    <p:sldId id="290" r:id="rId49"/>
    <p:sldId id="321" r:id="rId50"/>
    <p:sldId id="329" r:id="rId51"/>
    <p:sldId id="316" r:id="rId52"/>
    <p:sldId id="292" r:id="rId53"/>
    <p:sldId id="293" r:id="rId54"/>
    <p:sldId id="294" r:id="rId5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7B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12" autoAdjust="0"/>
    <p:restoredTop sz="94750"/>
  </p:normalViewPr>
  <p:slideViewPr>
    <p:cSldViewPr snapToGrid="0" snapToObjects="1">
      <p:cViewPr varScale="1">
        <p:scale>
          <a:sx n="81" d="100"/>
          <a:sy n="81" d="100"/>
        </p:scale>
        <p:origin x="4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6372093982616749E-2"/>
          <c:y val="4.7006972161092335E-2"/>
          <c:w val="0.96725581203476652"/>
          <c:h val="0.774136588103488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Coluna1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Planilha1!$A$2:$A$4</c:f>
              <c:strCache>
                <c:ptCount val="3"/>
                <c:pt idx="0">
                  <c:v>GESTÃO</c:v>
                </c:pt>
                <c:pt idx="1">
                  <c:v>ESTRATÉGIA</c:v>
                </c:pt>
                <c:pt idx="2">
                  <c:v>RESULTADOS</c:v>
                </c:pt>
              </c:strCache>
            </c:strRef>
          </c:cat>
          <c:val>
            <c:numRef>
              <c:f>Planilha1!$B$2:$B$4</c:f>
              <c:numCache>
                <c:formatCode>General</c:formatCode>
                <c:ptCount val="3"/>
                <c:pt idx="0">
                  <c:v>33</c:v>
                </c:pt>
                <c:pt idx="1">
                  <c:v>33</c:v>
                </c:pt>
                <c:pt idx="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7B-4B05-A6CB-BD06C622E7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87629072"/>
        <c:axId val="687624272"/>
      </c:barChart>
      <c:catAx>
        <c:axId val="687629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87624272"/>
        <c:crosses val="autoZero"/>
        <c:auto val="1"/>
        <c:lblAlgn val="ctr"/>
        <c:lblOffset val="100"/>
        <c:noMultiLvlLbl val="0"/>
      </c:catAx>
      <c:valAx>
        <c:axId val="68762427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687629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84180-9865-5D45-ABEE-EDE9F78FF064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9F6D9-4AC4-B540-876A-9B81B236A3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499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9F6D9-4AC4-B540-876A-9B81B236A31B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7018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FBFE0-0B3B-C445-9A84-8258DC7BD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8330" y="1122364"/>
            <a:ext cx="7689669" cy="575808"/>
          </a:xfrm>
        </p:spPr>
        <p:txBody>
          <a:bodyPr anchor="b">
            <a:normAutofit/>
          </a:bodyPr>
          <a:lstStyle>
            <a:lvl1pPr algn="l">
              <a:defRPr sz="2800"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3424AF-A73F-A045-92BD-C562AC8A3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8330" y="1894114"/>
            <a:ext cx="7689670" cy="336368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13B8A6-F46E-DB48-A2C5-5858CE090B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8065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94A2A-0378-C54E-A358-12DAF640F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6BAB69-19DF-4840-B505-22172AF9B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90B818-89E7-BE4E-9DDC-C759CA71CB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56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FBFE0-0B3B-C445-9A84-8258DC7BD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8330" y="1122364"/>
            <a:ext cx="7689669" cy="575808"/>
          </a:xfrm>
        </p:spPr>
        <p:txBody>
          <a:bodyPr anchor="b">
            <a:normAutofit/>
          </a:bodyPr>
          <a:lstStyle>
            <a:lvl1pPr algn="l">
              <a:defRPr sz="2800"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3424AF-A73F-A045-92BD-C562AC8A3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8330" y="1894114"/>
            <a:ext cx="7689670" cy="336368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13B8A6-F46E-DB48-A2C5-5858CE090B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291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94A2A-0378-C54E-A358-12DAF640F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6BAB69-19DF-4840-B505-22172AF9B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90B818-89E7-BE4E-9DDC-C759CA71CB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155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84455-E6B9-F640-A698-FBFA9013E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016" y="1736726"/>
            <a:ext cx="8434433" cy="653777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CD88F6-6A01-D645-A6CD-98076DE6B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13016" y="2677887"/>
            <a:ext cx="8434434" cy="341176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C162A9-6E10-0646-89BA-29F10565A1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212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9E225-7CC5-F747-BFA1-F46718EB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5125"/>
            <a:ext cx="10256519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28FB91B-1984-EF48-B9F9-832603EE57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753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74806FBC-C35F-F743-9627-C3526CD986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8BC63F7-26AF-5E43-A6F4-B21C2B32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8126" y="1"/>
            <a:ext cx="6755673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TÍTULO DA CARTELA</a:t>
            </a:r>
          </a:p>
        </p:txBody>
      </p:sp>
    </p:spTree>
    <p:extLst>
      <p:ext uri="{BB962C8B-B14F-4D97-AF65-F5344CB8AC3E}">
        <p14:creationId xmlns:p14="http://schemas.microsoft.com/office/powerpoint/2010/main" val="167684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spc="-150">
          <a:solidFill>
            <a:srgbClr val="002060"/>
          </a:solidFill>
          <a:latin typeface="Andale Mono" panose="020B0509000000000004" pitchFamily="49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4157554-2EB8-F047-A512-C030BC03B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576" y="365125"/>
            <a:ext cx="853222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FA20CF-87C1-654A-9AA2-82F46ACEE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1576" y="1854925"/>
            <a:ext cx="8532224" cy="4322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5D510E-808F-1440-A6A7-3028D18552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9888" y="6492875"/>
            <a:ext cx="85322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230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spc="-150">
          <a:solidFill>
            <a:schemeClr val="tx2"/>
          </a:solidFill>
          <a:latin typeface="Andale Mono" panose="020B0509000000000004" pitchFamily="49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Andale Mono" panose="020B0509000000000004" pitchFamily="49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Andale Mono" panose="020B0509000000000004" pitchFamily="49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spc="-150">
          <a:solidFill>
            <a:schemeClr val="tx1"/>
          </a:solidFill>
          <a:latin typeface="Andale Mono" panose="020B0509000000000004" pitchFamily="49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spc="-150">
          <a:solidFill>
            <a:schemeClr val="tx1"/>
          </a:solidFill>
          <a:latin typeface="Andale Mono" panose="020B0509000000000004" pitchFamily="49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spc="-150">
          <a:solidFill>
            <a:schemeClr val="tx1"/>
          </a:solidFill>
          <a:latin typeface="Andale Mono" panose="020B0509000000000004" pitchFamily="49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B9529-4EBA-4CA6-BF88-A386A3DD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184" y="642257"/>
            <a:ext cx="6755673" cy="4669972"/>
          </a:xfrm>
        </p:spPr>
        <p:txBody>
          <a:bodyPr/>
          <a:lstStyle/>
          <a:p>
            <a:pPr algn="ctr"/>
            <a:br>
              <a:rPr lang="pt-BR" dirty="0"/>
            </a:br>
            <a:r>
              <a:rPr lang="pt-BR" dirty="0"/>
              <a:t>FUNDOS DE INVESTIMENTOS</a:t>
            </a:r>
            <a:br>
              <a:rPr lang="pt-BR" dirty="0"/>
            </a:br>
            <a:r>
              <a:rPr lang="pt-BR" sz="3000" dirty="0"/>
              <a:t>RAFAEL ZATTAR </a:t>
            </a:r>
          </a:p>
        </p:txBody>
      </p:sp>
      <p:pic>
        <p:nvPicPr>
          <p:cNvPr id="6" name="Espaço Reservado para Conteúdo 5" descr="Logotipo&#10;&#10;Descrição gerada automaticamente">
            <a:extLst>
              <a:ext uri="{FF2B5EF4-FFF2-40B4-BE49-F238E27FC236}">
                <a16:creationId xmlns:a16="http://schemas.microsoft.com/office/drawing/2014/main" id="{19AE0915-44F6-4DB5-864D-2993170E1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723C5AF-CEDF-40DA-800E-067B3AABD4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BD353E0F-D6DB-42E5-AB1F-8743099C3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756" y="3429000"/>
            <a:ext cx="2426253" cy="175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199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9510C0D-30A0-BB91-A6DF-AA58E319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576" y="365125"/>
            <a:ext cx="8532223" cy="1325563"/>
          </a:xfrm>
        </p:spPr>
        <p:txBody>
          <a:bodyPr/>
          <a:lstStyle/>
          <a:p>
            <a:pPr algn="r"/>
            <a:r>
              <a:rPr lang="en-US" sz="2800" b="0" i="0" kern="1200" dirty="0" err="1">
                <a:latin typeface="Andale Mono" panose="020B0509000000000004"/>
              </a:rPr>
              <a:t>Concentre</a:t>
            </a:r>
            <a:r>
              <a:rPr lang="en-US" sz="2800" b="0" i="0" kern="1200" dirty="0">
                <a:latin typeface="Andale Mono" panose="020B0509000000000004"/>
              </a:rPr>
              <a:t>-se </a:t>
            </a:r>
            <a:r>
              <a:rPr lang="en-US" sz="2800" b="0" i="0" kern="1200" dirty="0" err="1">
                <a:latin typeface="Andale Mono" panose="020B0509000000000004"/>
              </a:rPr>
              <a:t>naquilo</a:t>
            </a:r>
            <a:r>
              <a:rPr lang="en-US" sz="2800" b="0" i="0" kern="1200" dirty="0">
                <a:latin typeface="Andale Mono" panose="020B0509000000000004"/>
              </a:rPr>
              <a:t> que </a:t>
            </a:r>
            <a:r>
              <a:rPr lang="en-US" sz="2800" b="0" i="0" kern="1200" dirty="0" err="1">
                <a:latin typeface="Andale Mono" panose="020B0509000000000004"/>
              </a:rPr>
              <a:t>você</a:t>
            </a:r>
            <a:r>
              <a:rPr lang="en-US" sz="2800" b="0" i="0" kern="1200" dirty="0">
                <a:latin typeface="Andale Mono" panose="020B0509000000000004"/>
              </a:rPr>
              <a:t> é </a:t>
            </a:r>
            <a:r>
              <a:rPr lang="en-US" sz="2800" b="0" i="0" kern="1200" dirty="0" err="1">
                <a:latin typeface="Andale Mono" panose="020B0509000000000004"/>
              </a:rPr>
              <a:t>bom</a:t>
            </a:r>
            <a:r>
              <a:rPr lang="en-US" sz="2800" b="0" i="0" kern="1200" dirty="0">
                <a:latin typeface="Andale Mono" panose="020B0509000000000004"/>
              </a:rPr>
              <a:t> e </a:t>
            </a:r>
            <a:r>
              <a:rPr lang="en-US" sz="2800" b="0" i="0" kern="1200" dirty="0" err="1">
                <a:latin typeface="Andale Mono" panose="020B0509000000000004"/>
              </a:rPr>
              <a:t>delegue</a:t>
            </a:r>
            <a:r>
              <a:rPr lang="en-US" sz="2800" b="0" i="0" kern="1200" dirty="0">
                <a:latin typeface="Andale Mono" panose="020B0509000000000004"/>
              </a:rPr>
              <a:t> </a:t>
            </a:r>
            <a:r>
              <a:rPr lang="en-US" sz="2800" b="0" i="0" kern="1200" dirty="0" err="1">
                <a:latin typeface="Andale Mono" panose="020B0509000000000004"/>
              </a:rPr>
              <a:t>todo</a:t>
            </a:r>
            <a:r>
              <a:rPr lang="en-US" sz="2800" b="0" i="0" kern="1200" dirty="0">
                <a:latin typeface="Andale Mono" panose="020B0509000000000004"/>
              </a:rPr>
              <a:t> o resto.</a:t>
            </a:r>
            <a:br>
              <a:rPr lang="en-US" sz="2800" b="0" i="0" kern="1200" dirty="0">
                <a:latin typeface="Andale Mono" panose="020B0509000000000004"/>
              </a:rPr>
            </a:br>
            <a:r>
              <a:rPr lang="en-US" sz="2400" b="0" i="0" kern="1200" dirty="0">
                <a:latin typeface="Andale Mono" panose="020B0509000000000004"/>
              </a:rPr>
              <a:t>Stevie Jobs</a:t>
            </a:r>
            <a:endParaRPr lang="en-US" sz="2400" dirty="0">
              <a:latin typeface="Andale Mono" panose="020B0509000000000004"/>
            </a:endParaRPr>
          </a:p>
        </p:txBody>
      </p:sp>
      <p:pic>
        <p:nvPicPr>
          <p:cNvPr id="5" name="Espaço Reservado para Conteúdo 3" descr="Foto preta e branca de homem de óculos com a mão no rosto&#10;&#10;Descrição gerada automaticamente">
            <a:extLst>
              <a:ext uri="{FF2B5EF4-FFF2-40B4-BE49-F238E27FC236}">
                <a16:creationId xmlns:a16="http://schemas.microsoft.com/office/drawing/2014/main" id="{199528B4-1BE1-48F4-B967-1F2DFB6A9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224" r="2" b="15682"/>
          <a:stretch/>
        </p:blipFill>
        <p:spPr>
          <a:xfrm>
            <a:off x="3439886" y="1854925"/>
            <a:ext cx="7913914" cy="4322037"/>
          </a:xfrm>
          <a:prstGeom prst="rect">
            <a:avLst/>
          </a:prstGeom>
          <a:noFill/>
          <a:effectLst/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8B36190-73B6-49EC-A8A6-C12C4C09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9888" y="6492875"/>
            <a:ext cx="85322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/>
              <a:t>PROF RAFAEL ZATTAR      AULA: FUNDOS DE INVESTIMENTOS</a:t>
            </a:r>
          </a:p>
        </p:txBody>
      </p:sp>
    </p:spTree>
    <p:extLst>
      <p:ext uri="{BB962C8B-B14F-4D97-AF65-F5344CB8AC3E}">
        <p14:creationId xmlns:p14="http://schemas.microsoft.com/office/powerpoint/2010/main" val="1971454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BBAE6-C7A1-41BC-A1F0-740B376D6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MELHOR: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D77A5-6405-47BC-8B08-2578E9F6F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1.000% DE 1.000 REAIS; OU</a:t>
            </a:r>
          </a:p>
          <a:p>
            <a:endParaRPr lang="pt-BR" dirty="0"/>
          </a:p>
          <a:p>
            <a:r>
              <a:rPr lang="pt-BR" dirty="0"/>
              <a:t>500% DE 100.000 REAIS?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9F96BD3-6E4B-4606-990B-2123402E92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611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36B4D-8E42-4A97-9B23-539068EC9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EFICIÊNCIA X EFICÁCIA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06E66D-A3DF-4A7C-85AC-3CA74353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dirty="0"/>
              <a:t>Qual a melhor forma de utilização de recursos e tempo para o alcance de um objetivo?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O objetivo foi alcançado?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D3BDB66-ABE4-4BF4-8022-130F165333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2507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F5B82-6238-478C-8AC4-52B35F5C2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DE NOSSAS CARTEIRAS: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F3600D-205D-4FD1-9385-710348F01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MAIS CONSERVADORAS BATE COM FOLGA O CDI;</a:t>
            </a:r>
          </a:p>
          <a:p>
            <a:r>
              <a:rPr lang="pt-BR" dirty="0"/>
              <a:t>A Z HARD  TEM OBTIDO RETORNO PRÓXIMO A 20% A.A., E MANTIDO A MÉDIA DE 2X O ÍNDICE IBOVESPA, COM UM PROCESSO DE SELEÇÃO QUE TEM SE MOSTRADO EFICIENTE AO LONGO DA NOSSA JORNADA.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EDE9B5C-42A8-4D96-8E0B-6EB8318A6C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5756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1365" y="655911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ROTEIRO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336006F-B023-4C64-B127-69E9F213B5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 dirty="0"/>
              <a:t>PROF RAFAEL ZATTAR      AULA: FUNDOS DE INVESTIMENTOS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BA244A6-C07E-4F24-B426-DB5334B73EDA}"/>
              </a:ext>
            </a:extLst>
          </p:cNvPr>
          <p:cNvSpPr txBox="1"/>
          <p:nvPr/>
        </p:nvSpPr>
        <p:spPr>
          <a:xfrm>
            <a:off x="3657600" y="950049"/>
            <a:ext cx="6966408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t-BR" dirty="0"/>
              <a:t>Por que investir em fundos?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Mitos dos Fundos de Investimentos.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Diferença entre investir em ações e fundos.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Quantos fundos superam o benchmark?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De quais fundos devemos fugir?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Como ser um bom investidor de fundos.</a:t>
            </a:r>
          </a:p>
          <a:p>
            <a:pPr marL="342900" indent="-342900">
              <a:buAutoNum type="arabicPeriod"/>
            </a:pPr>
            <a:r>
              <a:rPr lang="pt-BR" dirty="0"/>
              <a:t>Aprendendo a escolher bons fundos.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Por onde começar?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Os pilares para a escolha de um fundos de investimento.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A falácia da rentabilidade ao final do período.</a:t>
            </a:r>
          </a:p>
          <a:p>
            <a:pPr marL="342900" indent="-342900">
              <a:buAutoNum type="arabicPeriod"/>
            </a:pPr>
            <a:r>
              <a:rPr lang="pt-BR" dirty="0"/>
              <a:t>Erros do investidor ao escolher um fundo.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O curioso caso do fundo Nostradamus.</a:t>
            </a:r>
          </a:p>
          <a:p>
            <a:pPr marL="342900" indent="-342900">
              <a:buAutoNum type="arabicPeriod"/>
            </a:pPr>
            <a:r>
              <a:rPr lang="pt-BR" dirty="0"/>
              <a:t>Montando uma carteira inteligente de fundos.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Como montar uma carteira inteligente.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Correlação entre fundos.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Perfis das Carteiras Z.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Descorrelação entre fundos de ações.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De onde vem o sucesso do portfólio.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 err="1"/>
              <a:t>Rebalanceamento</a:t>
            </a:r>
            <a:r>
              <a:rPr lang="pt-BR" dirty="0"/>
              <a:t> de ativos de forma sistemática.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Quando vender um fundo?</a:t>
            </a:r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305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C18B6-40D5-4A70-8E2C-BFCF2377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INVESTIR EM FUNDOS?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207DA0-2CA2-46B3-9A8B-2C50606E5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22C07B2-AFA4-4BD2-BA65-30CB802028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7956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4DBB5-FC05-414B-AA35-1814C928A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INVESTIR EM FUNDOS? 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9C740A-E753-4665-AE46-7817F21B8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Otimização do tempo / maior qualidade de vida;</a:t>
            </a:r>
          </a:p>
          <a:p>
            <a:r>
              <a:rPr lang="pt-BR" dirty="0"/>
              <a:t>Equipes qualificadas / capacidade técnica;</a:t>
            </a:r>
          </a:p>
          <a:p>
            <a:r>
              <a:rPr lang="pt-BR" dirty="0"/>
              <a:t>Operacional mais simples;</a:t>
            </a:r>
          </a:p>
          <a:p>
            <a:r>
              <a:rPr lang="pt-BR" dirty="0"/>
              <a:t>Crescimento patrimonial;</a:t>
            </a:r>
          </a:p>
          <a:p>
            <a:r>
              <a:rPr lang="pt-BR" dirty="0"/>
              <a:t>Bons resultados ( a minoria dos fundos é boa, das ações da bolsa, restaurantes, escolas, times do brasileirão).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DAF5EE-443C-4507-A8F0-139A959628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4331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86EE9-781D-437C-B5CC-23EAEF28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MITOS DOS FUNDOS DE INVESTIMENTOS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3C4FC0-7E73-49EE-B4E6-BB8F00C26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preciso ter muito dinheiro para investir e saber muito sobre o mercado;</a:t>
            </a:r>
          </a:p>
          <a:p>
            <a:pPr marL="0" indent="0">
              <a:buNone/>
            </a:pPr>
            <a:r>
              <a:rPr lang="pt-BR" dirty="0"/>
              <a:t>(Problema de saúde, médico, comer uma comida boa, bom restaurante).</a:t>
            </a:r>
          </a:p>
          <a:p>
            <a:r>
              <a:rPr lang="pt-BR" dirty="0"/>
              <a:t>O dinheiro investido ficará preso, sem liquidez;</a:t>
            </a:r>
          </a:p>
          <a:p>
            <a:r>
              <a:rPr lang="pt-BR" dirty="0"/>
              <a:t>As taxas destroem a rentabilidade;</a:t>
            </a:r>
          </a:p>
          <a:p>
            <a:r>
              <a:rPr lang="pt-BR" dirty="0"/>
              <a:t>Ainda é preciso tirar as taxas da rentabilidade apresentada;</a:t>
            </a:r>
          </a:p>
          <a:p>
            <a:r>
              <a:rPr lang="pt-BR" dirty="0"/>
              <a:t>Se a corretora quebrar perderei todo o meu dinheiro;</a:t>
            </a:r>
          </a:p>
          <a:p>
            <a:r>
              <a:rPr lang="pt-BR" dirty="0"/>
              <a:t>Os fundos são terríveis, pois não há dividendos.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F0D29F1-619A-433D-8629-2F71561291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9038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867B7-D41C-4857-8B8A-B491F2C35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DIFERENÇA ENTRE INVESTIR EM AÇÕES E FUNDOS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38D592-69D5-4AD4-9997-08649EEDA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ESCOLHER O TÉCNICO DA EQUIPE OU OS JOGADORES?</a:t>
            </a:r>
          </a:p>
          <a:p>
            <a:r>
              <a:rPr lang="pt-BR" dirty="0"/>
              <a:t>O QUE VAI TE PROPORCIONAR MAIS TEMPO?</a:t>
            </a:r>
          </a:p>
          <a:p>
            <a:r>
              <a:rPr lang="pt-BR" dirty="0"/>
              <a:t>VANTAGENS DE INVESTIR EM FUNDOS:</a:t>
            </a:r>
          </a:p>
          <a:p>
            <a:r>
              <a:rPr lang="pt-BR" dirty="0"/>
              <a:t>DIVERSIFICAÇÃO DE ESTRATÉGIAS;</a:t>
            </a:r>
          </a:p>
          <a:p>
            <a:r>
              <a:rPr lang="pt-BR" dirty="0"/>
              <a:t>DIVERSIFICAÇÃO GEOGRÁFICA.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51FF334-7A3F-4148-8A95-D620FDD742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408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CD308-DF70-48DB-900E-89909C6F0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NEM TUDO SÃO FLORES...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E626C79-05AB-4556-8287-01979B7136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1519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EB3DE93-B48B-4C87-86BB-AB6929877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650" b="110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9A79024-5213-4D66-A72E-253A6E70CD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pt-BR"/>
              <a:t>PROF RAFAEL ZATTAR      AULA: FUNDOS DE INVESTIMENTOS</a:t>
            </a:r>
          </a:p>
        </p:txBody>
      </p:sp>
    </p:spTree>
    <p:extLst>
      <p:ext uri="{BB962C8B-B14F-4D97-AF65-F5344CB8AC3E}">
        <p14:creationId xmlns:p14="http://schemas.microsoft.com/office/powerpoint/2010/main" val="2881857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253AD-24CF-40CA-B783-CD487E53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ESTUDO SOBRE FUNDOS 15 ANOS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4470FC-4760-4551-A68C-CDD192DA5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MAS SERÁ QUE FUNDOS SÃO TÃO BONS ASSIM?</a:t>
            </a:r>
          </a:p>
          <a:p>
            <a:r>
              <a:rPr lang="pt-BR" dirty="0"/>
              <a:t>QUANTOS FUNDOS SUPERAM OS BENCHARKINGS EM UM PRAZO MAIS LONGO?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7F0754-B785-48B4-A9B7-807365A08E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8447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F73487E-5F22-4150-9BBB-290B96FE25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7EAE3FD-551F-4DFB-8090-4388B0EBC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9432" y="365126"/>
            <a:ext cx="6633907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09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91DE2F-E6D4-4D39-8BCD-3B76D0D6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 QUAIS FUNDOS DEVEMOS FUGIR?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DAB95B-386D-42D8-8F83-5F4BFEAE0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6735" y="1609828"/>
            <a:ext cx="8532224" cy="4322037"/>
          </a:xfr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pt-BR" dirty="0"/>
              <a:t>FUNDOS DE RENDA FIXA QUE INVESTEM PRIORITARIAMENTE EM TESOURO SELIC E COBRAM TAXAS ALTAS; </a:t>
            </a:r>
          </a:p>
          <a:p>
            <a:r>
              <a:rPr lang="pt-BR" dirty="0"/>
              <a:t>FUNDOS MONOATIVOS;</a:t>
            </a:r>
          </a:p>
          <a:p>
            <a:pPr lvl="1"/>
            <a:r>
              <a:rPr lang="pt-BR" dirty="0"/>
              <a:t>13 BILHÕES 401 MILHÕES 833 MIL REAIS ESTÃO INVESTIDOS EM FUNDOS MONOATIVOS;</a:t>
            </a:r>
          </a:p>
          <a:p>
            <a:pPr lvl="1"/>
            <a:r>
              <a:rPr lang="pt-BR" dirty="0"/>
              <a:t>PRINCIPALMENTE VALE E PETROBRÁS;</a:t>
            </a:r>
          </a:p>
          <a:p>
            <a:pPr lvl="1"/>
            <a:r>
              <a:rPr lang="pt-BR" dirty="0"/>
              <a:t>325 .509 PESSOAS.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1400" dirty="0"/>
              <a:t>DADOS DA ECONOMÁTICA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10ED25F-D1B6-4AD6-88EF-8C07DD1006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5064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D27770-231D-4720-B591-81B1F8780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467" y="380832"/>
            <a:ext cx="8532223" cy="1325563"/>
          </a:xfrm>
        </p:spPr>
        <p:txBody>
          <a:bodyPr/>
          <a:lstStyle/>
          <a:p>
            <a:r>
              <a:rPr lang="pt-BR" dirty="0"/>
              <a:t>COMO SER UM BOM INVESTIDOR DE FUNDOS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030BA4-17EB-462F-A457-F2BDA9932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Montar uma carteira de investimentos inteligente;</a:t>
            </a:r>
          </a:p>
          <a:p>
            <a:pPr lvl="1"/>
            <a:r>
              <a:rPr lang="pt-BR" dirty="0"/>
              <a:t>Separar por objetivos temporais;</a:t>
            </a:r>
          </a:p>
          <a:p>
            <a:pPr lvl="1"/>
            <a:r>
              <a:rPr lang="pt-BR" dirty="0"/>
              <a:t>Escolher fundos de acordo com esses objetivos;</a:t>
            </a:r>
          </a:p>
          <a:p>
            <a:pPr lvl="1"/>
            <a:r>
              <a:rPr lang="pt-BR" dirty="0"/>
              <a:t>Diversificar.</a:t>
            </a:r>
          </a:p>
          <a:p>
            <a:r>
              <a:rPr lang="pt-BR" dirty="0"/>
              <a:t>Estar preparado para as quedas.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388D856-F205-46DD-850E-86B270BC93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8653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C18B6-40D5-4A70-8E2C-BFCF2377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APRENDENDO A ESCOLHER BONS FUNDOS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207DA0-2CA2-46B3-9A8B-2C50606E5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22C07B2-AFA4-4BD2-BA65-30CB802028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 dirty="0"/>
              <a:t>PROF RAFAEL ZATTAR      AULA: FUNDOS DE INVESTIMENTOS</a:t>
            </a:r>
          </a:p>
        </p:txBody>
      </p:sp>
    </p:spTree>
    <p:extLst>
      <p:ext uri="{BB962C8B-B14F-4D97-AF65-F5344CB8AC3E}">
        <p14:creationId xmlns:p14="http://schemas.microsoft.com/office/powerpoint/2010/main" val="1437870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92BA9-0483-480B-B620-4C6AAB97F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ONDE COMEÇAR?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AD6751-BA54-424F-9B98-D6DEB3632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Abrir conta em uma corretora;</a:t>
            </a:r>
          </a:p>
          <a:p>
            <a:r>
              <a:rPr lang="pt-BR" dirty="0"/>
              <a:t>Saber qual o perfil de investidor e os objetivos.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8F5D79-38D3-4018-9D0F-6CBCBFEDAC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1904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84054-3069-47E5-9741-A7913BA6A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576" y="365125"/>
            <a:ext cx="8706395" cy="1325563"/>
          </a:xfrm>
        </p:spPr>
        <p:txBody>
          <a:bodyPr/>
          <a:lstStyle/>
          <a:p>
            <a:r>
              <a:rPr lang="pt-BR" dirty="0"/>
              <a:t>OS PILARES PARA A ESCOLHA DE UM FUNDO DE INVESTIMENTO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2726655-4991-41C6-A6D0-293CDAACCF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  <p:graphicFrame>
        <p:nvGraphicFramePr>
          <p:cNvPr id="5" name="Espaço Reservado para Conteúdo 18">
            <a:extLst>
              <a:ext uri="{FF2B5EF4-FFF2-40B4-BE49-F238E27FC236}">
                <a16:creationId xmlns:a16="http://schemas.microsoft.com/office/drawing/2014/main" id="{7A6405FD-68FC-43A3-ABA5-69827814D0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0439659"/>
              </p:ext>
            </p:extLst>
          </p:nvPr>
        </p:nvGraphicFramePr>
        <p:xfrm>
          <a:off x="2820988" y="1322048"/>
          <a:ext cx="8532812" cy="4322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89982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C611A-2EFD-40C5-BD96-3C1D5DBBB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576" y="521954"/>
            <a:ext cx="8532223" cy="1325563"/>
          </a:xfrm>
        </p:spPr>
        <p:txBody>
          <a:bodyPr/>
          <a:lstStyle/>
          <a:p>
            <a:r>
              <a:rPr lang="pt-BR" dirty="0"/>
              <a:t>GESTÃO</a:t>
            </a:r>
            <a:br>
              <a:rPr lang="pt-BR" dirty="0"/>
            </a:br>
            <a:br>
              <a:rPr lang="pt-BR" sz="2200" dirty="0"/>
            </a:br>
            <a:r>
              <a:rPr lang="pt-BR" sz="2200" dirty="0"/>
              <a:t>Reflexão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B673DF-632F-4E57-9419-62FE0244A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Quais critérios você utilizaria se fosse contratar um técnico pra gerir uma equipe pra você?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dirty="0"/>
              <a:t>E pra pilotar um avião no qual você estivesse dentro?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CARACTERÍSTICAS QUE PROCURAMOS EM BOAS EQUIPES DE GESTÃO.</a:t>
            </a:r>
          </a:p>
          <a:p>
            <a:pPr marL="0" indent="0">
              <a:buNone/>
            </a:pPr>
            <a:r>
              <a:rPr lang="pt-BR" dirty="0"/>
              <a:t>EXPERIÊNCIA, ESTRATÉGIA RESILIENTE E VENCEDORA E BONS RESULTADOS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54FB7F2-E1CF-49C8-AD84-52F36FE51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7696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6D7090A-21C5-4976-8547-C96EDB18F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3226926" y="264431"/>
            <a:ext cx="7253250" cy="5494337"/>
          </a:xfrm>
          <a:prstGeom prst="rect">
            <a:avLst/>
          </a:prstGeom>
          <a:noFill/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1ED9CC-6544-4AE7-80B4-AB40AA9185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829888" y="6492875"/>
            <a:ext cx="85322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/>
              <a:t>PROF RAFAEL ZATTAR      AULA: FUNDOS DE INVESTIMENTOS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52E2E9-2968-4857-9AAE-6A91EF928829}"/>
              </a:ext>
            </a:extLst>
          </p:cNvPr>
          <p:cNvSpPr txBox="1"/>
          <p:nvPr/>
        </p:nvSpPr>
        <p:spPr>
          <a:xfrm>
            <a:off x="2545236" y="6112776"/>
            <a:ext cx="9040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“O DINHEIRO GRANDE NÃO ESTÁ NA COMPRA E VENDA, MAS NA ESPERA.” CHARLIE MUNGER</a:t>
            </a:r>
          </a:p>
        </p:txBody>
      </p:sp>
    </p:spTree>
    <p:extLst>
      <p:ext uri="{BB962C8B-B14F-4D97-AF65-F5344CB8AC3E}">
        <p14:creationId xmlns:p14="http://schemas.microsoft.com/office/powerpoint/2010/main" val="2122471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908C6-27B5-41AE-A7D6-58A882986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578" y="443971"/>
            <a:ext cx="8532223" cy="1325563"/>
          </a:xfrm>
        </p:spPr>
        <p:txBody>
          <a:bodyPr>
            <a:normAutofit/>
          </a:bodyPr>
          <a:lstStyle/>
          <a:p>
            <a:r>
              <a:rPr lang="pt-BR" dirty="0"/>
              <a:t>Perguntas necessárias a serem feitas ao escolher uma gestão </a:t>
            </a:r>
            <a:r>
              <a:rPr lang="pt-BR" sz="2200" dirty="0"/>
              <a:t>(em regra, através da área comercial):</a:t>
            </a:r>
            <a:br>
              <a:rPr lang="pt-BR" sz="1400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646EA9-FC8D-4283-A288-980C8E901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1577" y="1549401"/>
            <a:ext cx="8532224" cy="4322037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Quem é o gestor principal? Aquele  que toma as decisões.</a:t>
            </a:r>
          </a:p>
          <a:p>
            <a:r>
              <a:rPr lang="pt-BR" dirty="0"/>
              <a:t>Quem é a equipe? Histórico.</a:t>
            </a:r>
          </a:p>
          <a:p>
            <a:r>
              <a:rPr lang="pt-BR" sz="2000" dirty="0"/>
              <a:t>Há uma </a:t>
            </a:r>
            <a:r>
              <a:rPr lang="pt-BR" sz="2000" dirty="0" err="1"/>
              <a:t>partnership</a:t>
            </a:r>
            <a:r>
              <a:rPr lang="pt-BR" sz="2000" dirty="0"/>
              <a:t> em que todos são sócios?</a:t>
            </a:r>
          </a:p>
          <a:p>
            <a:r>
              <a:rPr lang="pt-BR" dirty="0"/>
              <a:t>Há quanto tempo trabalham juntos? Como foi o retorno do fundo quando trabalhavam juntos.</a:t>
            </a:r>
          </a:p>
          <a:p>
            <a:r>
              <a:rPr lang="pt-BR" dirty="0">
                <a:solidFill>
                  <a:srgbClr val="FF0000"/>
                </a:solidFill>
              </a:rPr>
              <a:t>É preferível uma gestora nova com uma equipe antiga a uma gestora antiga com um equipe nova.</a:t>
            </a:r>
          </a:p>
          <a:p>
            <a:r>
              <a:rPr lang="pt-BR" dirty="0"/>
              <a:t>Cultura da empresa. Uma cultura bem definida e clara traz mais objetividade,  produtividade e sinergia entre os envolvidos.</a:t>
            </a:r>
          </a:p>
          <a:p>
            <a:r>
              <a:rPr lang="pt-BR" dirty="0"/>
              <a:t>Como é o processo de tomada de decisão? As decisões são colegiadas.</a:t>
            </a:r>
          </a:p>
          <a:p>
            <a:r>
              <a:rPr lang="pt-BR" dirty="0"/>
              <a:t>Como é o alinhamento de interesses? Os sócios são </a:t>
            </a:r>
            <a:r>
              <a:rPr lang="pt-BR" dirty="0" err="1"/>
              <a:t>skin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game? </a:t>
            </a:r>
          </a:p>
          <a:p>
            <a:r>
              <a:rPr lang="pt-BR" dirty="0"/>
              <a:t>Como é o alinhamento de valores? Forma de remuneração. Cada um recebe pelo risco que é tomado?</a:t>
            </a:r>
          </a:p>
          <a:p>
            <a:r>
              <a:rPr lang="pt-BR" dirty="0">
                <a:solidFill>
                  <a:srgbClr val="FF0000"/>
                </a:solidFill>
              </a:rPr>
              <a:t>Decisões movidas pelos motivos errados, geram movimentos inadequados.</a:t>
            </a:r>
          </a:p>
          <a:p>
            <a:r>
              <a:rPr lang="pt-BR" dirty="0"/>
              <a:t>Como é a comunicação da gestão? Cartas? São atuais?  Qual a periodicidade? 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D36DB20-2A2F-46B4-88F0-C0826C9A00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7982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E451C-C55C-413D-AC4E-3D6C49F67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ESTRATÉGIA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7A7B9C-75DC-490F-9A09-5608DC290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1575" y="1682395"/>
            <a:ext cx="8532224" cy="4322037"/>
          </a:xfrm>
        </p:spPr>
        <p:txBody>
          <a:bodyPr/>
          <a:lstStyle/>
          <a:p>
            <a:r>
              <a:rPr lang="pt-BR" dirty="0"/>
              <a:t>Por que é importante o conhecimento da estratégia?</a:t>
            </a:r>
          </a:p>
          <a:p>
            <a:r>
              <a:rPr lang="pt-BR" dirty="0"/>
              <a:t>Imagina um fundo que tem no mandato a possibilidade de se alavancar?</a:t>
            </a:r>
          </a:p>
          <a:p>
            <a:r>
              <a:rPr lang="pt-BR" dirty="0"/>
              <a:t>Um fundo que tem a estratégia de investir em SMALL CAPS.</a:t>
            </a:r>
          </a:p>
          <a:p>
            <a:endParaRPr lang="pt-BR" dirty="0"/>
          </a:p>
          <a:p>
            <a:r>
              <a:rPr lang="pt-BR" dirty="0"/>
              <a:t>POR QUE É IMPORTANTE CONHECER A ESTRATÉGIA?</a:t>
            </a:r>
          </a:p>
          <a:p>
            <a:r>
              <a:rPr lang="pt-BR" dirty="0"/>
              <a:t>Para acompanhar ao longo do tempo se ela está sendo seguida.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C94F78-F0DA-4B29-8C9F-425FA9EB22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2660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95B24-8F6F-4030-9AF4-EAE1E41B9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576" y="521954"/>
            <a:ext cx="8532223" cy="1325563"/>
          </a:xfrm>
        </p:spPr>
        <p:txBody>
          <a:bodyPr>
            <a:normAutofit fontScale="90000"/>
          </a:bodyPr>
          <a:lstStyle/>
          <a:p>
            <a:r>
              <a:rPr lang="pt-BR" dirty="0"/>
              <a:t>RESULTADO</a:t>
            </a:r>
            <a:br>
              <a:rPr lang="pt-BR" dirty="0"/>
            </a:br>
            <a:br>
              <a:rPr lang="pt-BR" dirty="0"/>
            </a:br>
            <a:r>
              <a:rPr lang="pt-BR" sz="2400" dirty="0"/>
              <a:t>PONTOS IMPORTANTES PARA A ANÁLISE QUANTITATIVA DE UM FUNDO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0AFE4E-63A5-4166-81F2-0F3D6771B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dirty="0"/>
              <a:t>Volatilidade: </a:t>
            </a: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desvio padrão em relação à média da variação das cotas. Fundos alavancados têm uma maior volatilidade.</a:t>
            </a:r>
          </a:p>
          <a:p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risco que ele correu frente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retorno que ele apresenta em janelas apropriadas é favorável?</a:t>
            </a:r>
          </a:p>
          <a:p>
            <a:r>
              <a:rPr lang="pt-BR" sz="2000" dirty="0"/>
              <a:t>Índice de Sharpe: Retorno - Taxa livre de risco/risco. </a:t>
            </a:r>
            <a:r>
              <a:rPr lang="pt-BR" dirty="0"/>
              <a:t>Quanto que um fundo correu de risco para obter determinado retorno. Índice de </a:t>
            </a:r>
            <a:r>
              <a:rPr lang="pt-BR" dirty="0" err="1"/>
              <a:t>sharpe</a:t>
            </a:r>
            <a:r>
              <a:rPr lang="pt-BR" dirty="0"/>
              <a:t> mede essa relação risco retorno. Quanto mais alto o índice </a:t>
            </a:r>
            <a:r>
              <a:rPr lang="pt-BR" dirty="0" err="1"/>
              <a:t>sharpe</a:t>
            </a:r>
            <a:r>
              <a:rPr lang="pt-BR" dirty="0"/>
              <a:t> melhor o fundo utilizou essa métrica.</a:t>
            </a:r>
          </a:p>
          <a:p>
            <a:r>
              <a:rPr lang="pt-BR" dirty="0"/>
              <a:t>Como ele comportou em lastros temporais distintos, em janelas rolantes distintas.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7F8D61A-7527-427C-8F0C-73C7790370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5343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2967E-D12D-457D-A666-1B1F8D6C5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FERRAMENTA ÚTIL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C4340F-598F-49EB-800F-CDDEDF764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COMPARADOR DE FUNDOS – GRÁFICO DE RENTABILIDADE, ÍNDICE DE SHARPE, VOLATILIDADE, GRÁFICO DE CORRELAÇÃO, ENTRE OUTROS.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A64A4CD-AF2C-4921-A200-58057079E7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9180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77189-C358-4797-BE7B-109C06880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FALÁCIA DA RENTABILIDADE AO FINAL DO PERÍODO</a:t>
            </a:r>
          </a:p>
        </p:txBody>
      </p:sp>
      <p:pic>
        <p:nvPicPr>
          <p:cNvPr id="6" name="Espaço Reservado para Conteúdo 5" descr="Interface gráfica do usuário, Gráfico, Gráfico de linhas&#10;&#10;Descrição gerada automaticamente">
            <a:extLst>
              <a:ext uri="{FF2B5EF4-FFF2-40B4-BE49-F238E27FC236}">
                <a16:creationId xmlns:a16="http://schemas.microsoft.com/office/drawing/2014/main" id="{D019A46E-6159-4FD2-915B-2EF3FA6CBF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9985" y="1508290"/>
            <a:ext cx="8299865" cy="4668674"/>
          </a:xfrm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FD2F75-3DC4-4EEC-B901-5857B16366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64990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Conteúdo 5" descr="Gráfico&#10;&#10;Descrição gerada automaticamente">
            <a:extLst>
              <a:ext uri="{FF2B5EF4-FFF2-40B4-BE49-F238E27FC236}">
                <a16:creationId xmlns:a16="http://schemas.microsoft.com/office/drawing/2014/main" id="{9BE2AFEE-BEA7-410A-80E6-88658EF8E8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6185" y="946298"/>
            <a:ext cx="8718913" cy="4965694"/>
          </a:xfrm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F80849F-C5F1-4972-9795-944CD4972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8205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9E272-4415-4643-AE20-08472C68D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 PARA ESSE ERRO: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C508E9-609A-4D58-B198-FA41F8B1C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AVALIAR FUNDOS DE INVESTIMENTOS DE MESMA CLASSE, EM DIFERENTE JANELAS TEMPORAIS. NÃO SOMENTE NA JANELA MAIS LONGA.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D281478-C0D4-439F-9C50-6B200DF6AD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3251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>
            <a:normAutofit fontScale="90000"/>
          </a:bodyPr>
          <a:lstStyle/>
          <a:p>
            <a:r>
              <a:rPr lang="pt-BR" dirty="0"/>
              <a:t>ERROS DO INVESTIDOR AO ESCOLHER UM FUNDO DE INVESTIMENTO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336006F-B023-4C64-B127-69E9F213B5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74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DCB8E-9763-4DD3-A7F4-69D9AFE5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ERROS DO INVESTIDOR AO ESCOLHER UM FUNDO DE INVESTIMENTO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B229F2-08AF-49AF-A40F-4CEB45EA6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1575" y="1473925"/>
            <a:ext cx="8532224" cy="4322037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Análise com base nos resultados de curto prazo;</a:t>
            </a:r>
          </a:p>
          <a:p>
            <a:pPr lvl="1"/>
            <a:r>
              <a:rPr lang="pt-BR" dirty="0"/>
              <a:t>Considerar  somente a rentabilidade dos últimos 12 meses;</a:t>
            </a:r>
          </a:p>
          <a:p>
            <a:pPr lvl="2"/>
            <a:r>
              <a:rPr lang="pt-BR" dirty="0"/>
              <a:t>Período mínimo de análise para  fundos de renda fixa: 1 ano</a:t>
            </a:r>
          </a:p>
          <a:p>
            <a:pPr lvl="2"/>
            <a:r>
              <a:rPr lang="pt-BR" dirty="0"/>
              <a:t>Fundos multimercados: 2 anos;</a:t>
            </a:r>
          </a:p>
          <a:p>
            <a:pPr lvl="2"/>
            <a:r>
              <a:rPr lang="pt-BR" dirty="0"/>
              <a:t>Fundos de ações: no mínimo 3 anos, preferencialmente acima de 5 anos. </a:t>
            </a:r>
          </a:p>
          <a:p>
            <a:r>
              <a:rPr lang="pt-BR" dirty="0"/>
              <a:t>Fazer resgates totais dos fundos vencedores;</a:t>
            </a:r>
          </a:p>
          <a:p>
            <a:pPr lvl="1"/>
            <a:r>
              <a:rPr lang="pt-BR" dirty="0"/>
              <a:t>Negligenciar a liquidez.</a:t>
            </a:r>
          </a:p>
          <a:p>
            <a:pPr lvl="1"/>
            <a:r>
              <a:rPr lang="pt-BR" dirty="0"/>
              <a:t>Simulação de valor inicial de 10 mil reais e mensais de 1.000  reais a uma rentabilidade de 20% a.a. Em 20 anos, você tem o valor de 2.822.232,39 .</a:t>
            </a:r>
          </a:p>
          <a:p>
            <a:pPr lvl="1"/>
            <a:r>
              <a:rPr lang="pt-BR" dirty="0"/>
              <a:t>Solução para esse erro: resgates parciais e planejados.</a:t>
            </a:r>
          </a:p>
          <a:p>
            <a:r>
              <a:rPr lang="pt-BR" dirty="0"/>
              <a:t>Não diversificar entre os fundos;</a:t>
            </a:r>
          </a:p>
          <a:p>
            <a:r>
              <a:rPr lang="pt-BR" dirty="0"/>
              <a:t>Negligenciar o </a:t>
            </a:r>
            <a:r>
              <a:rPr lang="pt-BR" dirty="0" err="1"/>
              <a:t>RiscoXRetorno</a:t>
            </a:r>
            <a:r>
              <a:rPr lang="pt-BR" dirty="0"/>
              <a:t>;</a:t>
            </a:r>
          </a:p>
          <a:p>
            <a:r>
              <a:rPr lang="pt-BR" dirty="0"/>
              <a:t>Comparar fundos de classes diferentes;</a:t>
            </a:r>
          </a:p>
          <a:p>
            <a:r>
              <a:rPr lang="pt-BR" dirty="0"/>
              <a:t>E o MAIOR erro do investidor, o ciclo autodestrutivo. A seguir...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BE0F90F-2CAE-48F7-A295-3A924ACEC1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6570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80027-DDBB-415A-B335-F6F7DB3F0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576" y="187325"/>
            <a:ext cx="8532223" cy="1325563"/>
          </a:xfrm>
        </p:spPr>
        <p:txBody>
          <a:bodyPr>
            <a:normAutofit/>
          </a:bodyPr>
          <a:lstStyle/>
          <a:p>
            <a:r>
              <a:rPr lang="en-US" sz="280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 MAIOR ERRO DO INVESTIDOR DE FUNDOS:</a:t>
            </a:r>
            <a:br>
              <a:rPr lang="en-US" sz="280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20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COMPRAR NA ALTA E VENDER DA BAIXA</a:t>
            </a:r>
            <a:endParaRPr lang="pt-BR" sz="2200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C46056-A298-4D76-953C-40DB2CBADF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968CBFC-3705-4C43-845A-E4F84A8C9B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24179" y="1531742"/>
            <a:ext cx="7415368" cy="459814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026116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530E5-70B5-45C5-82EB-53EF23C7E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OS TEMIDOS DRAWDOWNS</a:t>
            </a:r>
            <a:br>
              <a:rPr lang="pt-BR" dirty="0"/>
            </a:br>
            <a:br>
              <a:rPr lang="pt-BR" dirty="0"/>
            </a:br>
            <a:r>
              <a:rPr lang="pt-BR" sz="2400" dirty="0"/>
              <a:t>O CURIOSO CASO DO FOF NOSTRADAMUS (FICTÍCIO)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F4A2FE-E840-4AA5-BDB3-F2092CBA6B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6D2981A2-2546-4FB7-9D0B-6C4F711BA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992" y="1607167"/>
            <a:ext cx="5736058" cy="45888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40344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8EDBA-7512-42CE-83B1-54D92C0B5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CURIOSO CASO DO FOF NOSTRADAMUS (FICTÍCIO)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5386DB-401A-424B-BFD9-0C713FF63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R$ 1.000,00 investidos em Mar/1997 teriam se transformado em R$ 11.679,36 se investidos no índice BOVESPA, em R$ 154.330,60 se investidos no DYNAMO COUGAR FIC FIA e em impressionantes R$ 362.768,80 se investidos no NOSTRADAMUS FOF FIC FIA.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Taxa de Crescimento Anual Composta (CAGR na sigla em Inglês) do fundo NOSTRADAMUS é de 25,57% a.a., suficientes para dobrar o capital investido a cada 3 anos. O fundo tem gerado bons retornos não somente para os investidores iniciais, mas também para todos os demais, o fundo rende consistentemente entre 20% e 30% a.a. independente da data de início do investimento.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49898D5-F3D3-4FAE-AFBE-F0A1A7E04A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58326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462D64-A9B0-4B7B-92ED-B9F032B40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1577" y="1854925"/>
            <a:ext cx="3198224" cy="4322037"/>
          </a:xfrm>
        </p:spPr>
        <p:txBody>
          <a:bodyPr/>
          <a:lstStyle/>
          <a:p>
            <a:pPr algn="just"/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volatilidade (risco) do </a:t>
            </a:r>
            <a:r>
              <a:rPr lang="pt-BR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FoF</a:t>
            </a: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é também bem menor do que a volatilidade do índice, como podemos ver na Figura a seguir.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C121AFA-33FE-412F-A81B-5276B36AB4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  <p:pic>
        <p:nvPicPr>
          <p:cNvPr id="5" name="Picture 12" descr="Linha do tempo&#10;&#10;Descrição gerada automaticamente com confiança baixa">
            <a:extLst>
              <a:ext uri="{FF2B5EF4-FFF2-40B4-BE49-F238E27FC236}">
                <a16:creationId xmlns:a16="http://schemas.microsoft.com/office/drawing/2014/main" id="{997BBEC3-A09A-4055-9F5D-D3DBCFF26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424" y="1249045"/>
            <a:ext cx="5449889" cy="435991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175355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37CBB1-CC2A-4FF0-9021-30D257FE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920" y="1389392"/>
            <a:ext cx="4775566" cy="4322037"/>
          </a:xfrm>
        </p:spPr>
        <p:txBody>
          <a:bodyPr/>
          <a:lstStyle/>
          <a:p>
            <a:pPr algn="just"/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incrível habilidade de Nostradamus em analisar fundos e escolher os campeões da indústria não o livra, obviamente, da volatilidade nas cotas dos fundos investidos e nem de drawdowns temporários. Veja na Figura a seguir o histórico dos drawdowns do fundo.</a:t>
            </a:r>
          </a:p>
          <a:p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Imagine um investidor que tivesse decidido sacar a totalidade das suas cotas no dia do pico do </a:t>
            </a:r>
            <a:r>
              <a:rPr lang="pt-BR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drawdown</a:t>
            </a: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em Set/1998. Este investidor teria deixado na mesa uma incrível valorização de</a:t>
            </a:r>
            <a:b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62208% desde então!</a:t>
            </a:r>
            <a:b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FAC747-C5D8-42AE-A641-7862013364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758610FB-974B-4F12-9B46-D7BF3CC54E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54" b="-1"/>
          <a:stretch/>
        </p:blipFill>
        <p:spPr>
          <a:xfrm>
            <a:off x="5422173" y="1062038"/>
            <a:ext cx="6111722" cy="497674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66606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FDEF62EC-D59A-43B6-83A1-8C8297C7FD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1718206"/>
              </p:ext>
            </p:extLst>
          </p:nvPr>
        </p:nvGraphicFramePr>
        <p:xfrm>
          <a:off x="3403077" y="1583702"/>
          <a:ext cx="7777112" cy="2967604"/>
        </p:xfrm>
        <a:graphic>
          <a:graphicData uri="http://schemas.openxmlformats.org/drawingml/2006/table">
            <a:tbl>
              <a:tblPr/>
              <a:tblGrid>
                <a:gridCol w="1990206">
                  <a:extLst>
                    <a:ext uri="{9D8B030D-6E8A-4147-A177-3AD203B41FA5}">
                      <a16:colId xmlns:a16="http://schemas.microsoft.com/office/drawing/2014/main" val="2208564053"/>
                    </a:ext>
                  </a:extLst>
                </a:gridCol>
                <a:gridCol w="2889626">
                  <a:extLst>
                    <a:ext uri="{9D8B030D-6E8A-4147-A177-3AD203B41FA5}">
                      <a16:colId xmlns:a16="http://schemas.microsoft.com/office/drawing/2014/main" val="88021192"/>
                    </a:ext>
                  </a:extLst>
                </a:gridCol>
                <a:gridCol w="727190">
                  <a:extLst>
                    <a:ext uri="{9D8B030D-6E8A-4147-A177-3AD203B41FA5}">
                      <a16:colId xmlns:a16="http://schemas.microsoft.com/office/drawing/2014/main" val="2503461055"/>
                    </a:ext>
                  </a:extLst>
                </a:gridCol>
                <a:gridCol w="1251534">
                  <a:extLst>
                    <a:ext uri="{9D8B030D-6E8A-4147-A177-3AD203B41FA5}">
                      <a16:colId xmlns:a16="http://schemas.microsoft.com/office/drawing/2014/main" val="2597339429"/>
                    </a:ext>
                  </a:extLst>
                </a:gridCol>
                <a:gridCol w="918556">
                  <a:extLst>
                    <a:ext uri="{9D8B030D-6E8A-4147-A177-3AD203B41FA5}">
                      <a16:colId xmlns:a16="http://schemas.microsoft.com/office/drawing/2014/main" val="4129161085"/>
                    </a:ext>
                  </a:extLst>
                </a:gridCol>
              </a:tblGrid>
              <a:tr h="30332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Mar/1997 a Mar/2002 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8902059"/>
                  </a:ext>
                </a:extLst>
              </a:tr>
              <a:tr h="533432">
                <a:tc>
                  <a:txBody>
                    <a:bodyPr/>
                    <a:lstStyle/>
                    <a:p>
                      <a:pPr algn="l" fontAlgn="b"/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Fundo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MaxDD</a:t>
                      </a:r>
                    </a:p>
                  </a:txBody>
                  <a:tcPr marL="7620" marR="7620" marT="76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dias p/ recuperação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92965"/>
                  </a:ext>
                </a:extLst>
              </a:tr>
              <a:tr h="303323">
                <a:tc>
                  <a:txBody>
                    <a:bodyPr/>
                    <a:lstStyle/>
                    <a:p>
                      <a:pPr algn="l" fontAlgn="b"/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Tempo Capital 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Manaca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Fc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FIA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-42,5%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508153"/>
                  </a:ext>
                </a:extLst>
              </a:tr>
              <a:tr h="303323">
                <a:tc>
                  <a:txBody>
                    <a:bodyPr/>
                    <a:lstStyle/>
                    <a:p>
                      <a:pPr algn="l" fontAlgn="b"/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Opportunity Logica II FIC FIA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-66,9%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436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879706"/>
                  </a:ext>
                </a:extLst>
              </a:tr>
              <a:tr h="303323">
                <a:tc>
                  <a:txBody>
                    <a:bodyPr/>
                    <a:lstStyle/>
                    <a:p>
                      <a:pPr algn="l" fontAlgn="b"/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Dynamo Cougar FIC FIA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-50,5%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81018"/>
                  </a:ext>
                </a:extLst>
              </a:tr>
              <a:tr h="303323">
                <a:tc>
                  <a:txBody>
                    <a:bodyPr/>
                    <a:lstStyle/>
                    <a:p>
                      <a:pPr algn="l" fontAlgn="b"/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Itau Small Cap Valuation Fc Acoes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-69,7%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586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31471"/>
                  </a:ext>
                </a:extLst>
              </a:tr>
              <a:tr h="303323">
                <a:tc>
                  <a:txBody>
                    <a:bodyPr/>
                    <a:lstStyle/>
                    <a:p>
                      <a:pPr algn="l" fontAlgn="b"/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Ip Participacoes Fc FIA Bdr Nivel I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-58,2%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447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3479032"/>
                  </a:ext>
                </a:extLst>
              </a:tr>
              <a:tr h="303323">
                <a:tc>
                  <a:txBody>
                    <a:bodyPr/>
                    <a:lstStyle/>
                    <a:p>
                      <a:pPr algn="l" fontAlgn="b"/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Bram H FIA Institucional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-65,1%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602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2285515"/>
                  </a:ext>
                </a:extLst>
              </a:tr>
              <a:tr h="303323">
                <a:tc>
                  <a:txBody>
                    <a:bodyPr/>
                    <a:lstStyle/>
                    <a:p>
                      <a:pPr algn="l" fontAlgn="b"/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CSHG Top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Acoes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Fc FIA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-64,9%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583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089564"/>
                  </a:ext>
                </a:extLst>
              </a:tr>
            </a:tbl>
          </a:graphicData>
        </a:graphic>
      </p:graphicFrame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053483-D062-4A6F-AED2-E1859096BC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80844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31D0F-8CEC-49F1-97A0-BB7C3606C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Lições: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7EFDA1-31EA-4368-BBEB-D89CDFFA1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1575" y="1502500"/>
            <a:ext cx="8532224" cy="4322037"/>
          </a:xfrm>
        </p:spPr>
        <p:txBody>
          <a:bodyPr>
            <a:normAutofit fontScale="92500" lnSpcReduction="20000"/>
          </a:bodyPr>
          <a:lstStyle/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 preciso dar tempo suficiente aos fundos investidos para que suas teses se concretizem.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partir de</a:t>
            </a: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cinco anos parece ser um tempo razoável.</a:t>
            </a: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Volatilidade e drawdowns são inevitáveis e fazem parte do processo de investimento em renda variável.</a:t>
            </a: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Evite olhar o valor da cota dos seus fundos todos os dias. Na maior parte do tempo você estará observando só ruído e nenhuma informação relevante.</a:t>
            </a: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carteira selecionada de bons fundos é capaz de atingir resultados extraordinários com o tempo, não é preciso acertar na mosca e escolher os “melhores” fundos. Isso não vai te livrar de acentuadas quedas.</a:t>
            </a: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estamos dizendo que você deva escolher um conjunto de fundos e esquecê-los por um período de 5 anos. É preciso acompanhá-los e ter certeza de que eles não se afastaram dos princípios que os fizeram integrar a sua carteira.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0AE3592-B2AE-4784-8296-0C064CE0AF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59430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C5703-CE55-F940-9285-6E4A885DE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1714" y="3141096"/>
            <a:ext cx="7689669" cy="575808"/>
          </a:xfrm>
        </p:spPr>
        <p:txBody>
          <a:bodyPr/>
          <a:lstStyle/>
          <a:p>
            <a:r>
              <a:rPr lang="pt-BR" dirty="0"/>
              <a:t>MONTANDO UMA CARTEIRA INTELIGENTE DE FUNDOS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336006F-B023-4C64-B127-69E9F213B5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66732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249A56-996B-43AD-87A4-B90A5A5F0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MONTAR UMA CARTEIRA INTELIGENTE DE FUNDOS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CE9B1E-755A-4C4E-967A-805CE1DFC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SEPARAR POR OBJETIVOS DE CURTO, MÉDIO E LONGO PRAZO;</a:t>
            </a:r>
          </a:p>
          <a:p>
            <a:r>
              <a:rPr lang="pt-BR" dirty="0"/>
              <a:t>DIVERSIFICAR; E </a:t>
            </a:r>
          </a:p>
          <a:p>
            <a:r>
              <a:rPr lang="pt-BR" dirty="0"/>
              <a:t>DESCORRELACIONAR </a:t>
            </a:r>
            <a:r>
              <a:rPr lang="pt-BR" sz="2000" dirty="0"/>
              <a:t>ENTRE ESTRATÉGIAS, ABORDAGENS E GESTÕES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b="1" dirty="0">
                <a:highlight>
                  <a:srgbClr val="FFFF00"/>
                </a:highlight>
              </a:rPr>
              <a:t>REFORÇANDO! SAIBA QUAL É O SEU PERFIL DE INVESTIDOR ANTES DE COMEÇAR A MONTAGEM DE SUA CARTEIRA DE FUNDOS DE INVESTIMENTO.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CBD397-3ADE-42F5-8037-0BB0E9AC88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00414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306F5E-5D59-49D8-8F07-6E20B9F7D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CORRELAÇÃO ENTRE FUNDOS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25C75A-A80C-4CAD-A595-61693CF61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MEDIDA ESTATÍSICA QUE  É USADA PARA DETERMINAR COMO OS ATIVOS SE MOVIMENTAM EM RELAÇÃO AOS OUTROS.</a:t>
            </a:r>
          </a:p>
          <a:p>
            <a:r>
              <a:rPr lang="pt-BR" dirty="0"/>
              <a:t>1 A -1</a:t>
            </a:r>
          </a:p>
          <a:p>
            <a:r>
              <a:rPr lang="pt-BR" dirty="0"/>
              <a:t>1 CORRELAÇÃO PERFEITA</a:t>
            </a:r>
          </a:p>
          <a:p>
            <a:r>
              <a:rPr lang="pt-BR" dirty="0"/>
              <a:t>0 NÃO HÁ CORRELAÇÃO</a:t>
            </a:r>
          </a:p>
          <a:p>
            <a:r>
              <a:rPr lang="pt-BR" dirty="0"/>
              <a:t>-1 DESCORRELAÇÃO PERFEITA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D4A16ED-518F-4C6F-9FCF-49EF6FA6FE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12383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4E00B-2357-4292-8CFA-6362FF506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PERFIS DAS CARTEIRAS Z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263E938-3CDC-403B-8E6E-E8CEF85A9A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  <p:graphicFrame>
        <p:nvGraphicFramePr>
          <p:cNvPr id="8" name="Tabela 8">
            <a:extLst>
              <a:ext uri="{FF2B5EF4-FFF2-40B4-BE49-F238E27FC236}">
                <a16:creationId xmlns:a16="http://schemas.microsoft.com/office/drawing/2014/main" id="{2D554929-BF57-4587-849F-447B1D7B76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3220063"/>
              </p:ext>
            </p:extLst>
          </p:nvPr>
        </p:nvGraphicFramePr>
        <p:xfrm>
          <a:off x="4657508" y="2237581"/>
          <a:ext cx="3781616" cy="1854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71258">
                  <a:extLst>
                    <a:ext uri="{9D8B030D-6E8A-4147-A177-3AD203B41FA5}">
                      <a16:colId xmlns:a16="http://schemas.microsoft.com/office/drawing/2014/main" val="3630566678"/>
                    </a:ext>
                  </a:extLst>
                </a:gridCol>
                <a:gridCol w="2610358">
                  <a:extLst>
                    <a:ext uri="{9D8B030D-6E8A-4147-A177-3AD203B41FA5}">
                      <a16:colId xmlns:a16="http://schemas.microsoft.com/office/drawing/2014/main" val="1833411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CARTEIRA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PERFIL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850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Z LIGHT </a:t>
                      </a:r>
                      <a:endParaRPr lang="pt-BR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CONSERVADOR</a:t>
                      </a:r>
                      <a:endParaRPr lang="pt-BR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247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Z PLUS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CONSERVADOR/MODERADO</a:t>
                      </a:r>
                      <a:endParaRPr lang="pt-BR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257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Z MEDIUM</a:t>
                      </a:r>
                    </a:p>
                  </a:txBody>
                  <a:tcPr>
                    <a:solidFill>
                      <a:srgbClr val="E47B3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MODERADO</a:t>
                      </a:r>
                    </a:p>
                  </a:txBody>
                  <a:tcPr>
                    <a:solidFill>
                      <a:srgbClr val="E47B3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460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Z HARD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AGRESSIVO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867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4127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4E00B-2357-4292-8CFA-6362FF506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EXEMPLIFICANDO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263E938-3CDC-403B-8E6E-E8CEF85A9A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  <p:graphicFrame>
        <p:nvGraphicFramePr>
          <p:cNvPr id="8" name="Tabela 8">
            <a:extLst>
              <a:ext uri="{FF2B5EF4-FFF2-40B4-BE49-F238E27FC236}">
                <a16:creationId xmlns:a16="http://schemas.microsoft.com/office/drawing/2014/main" id="{2D554929-BF57-4587-849F-447B1D7B76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8933013"/>
              </p:ext>
            </p:extLst>
          </p:nvPr>
        </p:nvGraphicFramePr>
        <p:xfrm>
          <a:off x="2821576" y="2241642"/>
          <a:ext cx="6712030" cy="1478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10358">
                  <a:extLst>
                    <a:ext uri="{9D8B030D-6E8A-4147-A177-3AD203B41FA5}">
                      <a16:colId xmlns:a16="http://schemas.microsoft.com/office/drawing/2014/main" val="1833411907"/>
                    </a:ext>
                  </a:extLst>
                </a:gridCol>
                <a:gridCol w="1996376">
                  <a:extLst>
                    <a:ext uri="{9D8B030D-6E8A-4147-A177-3AD203B41FA5}">
                      <a16:colId xmlns:a16="http://schemas.microsoft.com/office/drawing/2014/main" val="4107279341"/>
                    </a:ext>
                  </a:extLst>
                </a:gridCol>
                <a:gridCol w="2105296">
                  <a:extLst>
                    <a:ext uri="{9D8B030D-6E8A-4147-A177-3AD203B41FA5}">
                      <a16:colId xmlns:a16="http://schemas.microsoft.com/office/drawing/2014/main" val="638441122"/>
                    </a:ext>
                  </a:extLst>
                </a:gridCol>
              </a:tblGrid>
              <a:tr h="35073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INVESTIDOR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PROTEÇÃO /CAIXA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RENDA VARIÁVEL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850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CONSERVADOR</a:t>
                      </a:r>
                      <a:endParaRPr lang="pt-BR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i="0" u="none" strike="noStrike" dirty="0">
                          <a:effectLst/>
                          <a:latin typeface="Calibri (CORPO"/>
                        </a:rP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i="0" u="none" strike="noStrike" dirty="0">
                          <a:effectLst/>
                          <a:latin typeface="Calibri (CORPO"/>
                        </a:rPr>
                        <a:t>ATÉ 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247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MODERADO</a:t>
                      </a:r>
                    </a:p>
                  </a:txBody>
                  <a:tcPr>
                    <a:solidFill>
                      <a:schemeClr val="accent4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alibri (CORPO"/>
                        </a:rPr>
                        <a:t>70%</a:t>
                      </a:r>
                    </a:p>
                  </a:txBody>
                  <a:tcPr>
                    <a:solidFill>
                      <a:schemeClr val="accent4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alibri (CORPO"/>
                        </a:rPr>
                        <a:t>ATÉ 30%</a:t>
                      </a:r>
                    </a:p>
                  </a:txBody>
                  <a:tcPr>
                    <a:solidFill>
                      <a:schemeClr val="accent4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460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AGRESSIVO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alibri (CORPO"/>
                        </a:rPr>
                        <a:t>ENTRE 30% E 69%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alibri (CORPO"/>
                        </a:rPr>
                        <a:t>ACIMA DE 30%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867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62510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CC6BF-876D-4D4F-8291-A0228C8DD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Z LIGHT- CONSERVADORA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81589F-AAE0-46FB-8BED-59B40B20F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MONTAR UMA BOA CARTEIRA DE FUNDOS CONSERVADORA?</a:t>
            </a:r>
          </a:p>
          <a:p>
            <a:r>
              <a:rPr lang="pt-BR" dirty="0"/>
              <a:t>FUNDOS QUE INVESTEM EM TÍTULOS PÚBLICOS PRIORITARIAMENTE E TÍTULOS PRIVADOS;</a:t>
            </a:r>
          </a:p>
          <a:p>
            <a:r>
              <a:rPr lang="pt-BR" dirty="0"/>
              <a:t>FUNDOS DE DEBÊNTURES INCENTIVADAS;</a:t>
            </a:r>
          </a:p>
          <a:p>
            <a:r>
              <a:rPr lang="pt-BR" dirty="0"/>
              <a:t>FUNDOS DE CRÉDITO PRIVADO.</a:t>
            </a:r>
          </a:p>
          <a:p>
            <a:endParaRPr lang="pt-BR" dirty="0"/>
          </a:p>
          <a:p>
            <a:r>
              <a:rPr lang="pt-BR" dirty="0"/>
              <a:t>DESCORRELAÇÃO ENTRE ATIVOS SEGUINDO AS MÉTRICAS APRESENTADAS ANTERIORMENTE (QUANTITATIVA E QUALITATIVA).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1DEC272-1884-4EC9-97C4-D84FAC30C4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68013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5B4012-5E8E-42B2-8AA3-BD5965E28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Z PLUS-Z MEDIUM (CONSERVADOR-MODERADO)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C03192-6342-40EA-9B43-70F472F00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FUNDOS CRÉDITO PRIVADO</a:t>
            </a:r>
          </a:p>
          <a:p>
            <a:r>
              <a:rPr lang="pt-BR" dirty="0"/>
              <a:t>FUNDOS MULTIMERCADOS</a:t>
            </a:r>
          </a:p>
          <a:p>
            <a:r>
              <a:rPr lang="pt-BR" dirty="0"/>
              <a:t>FUNDOS QUANTITATIVOS</a:t>
            </a:r>
          </a:p>
          <a:p>
            <a:r>
              <a:rPr lang="pt-BR" dirty="0"/>
              <a:t>FUNDOS DE AÇÕES DE MENOR VOLATILIDADE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046650-8411-43C4-B44B-83EE50A50A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17163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E1BB0-3E0B-439B-A258-BC0263BFC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Z HARD (AGRESSIVA)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2744E8-802E-48A7-AEAC-129161076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FUNDOS MULTIMERCADOS DE ALTA VOLATILIDADE </a:t>
            </a:r>
          </a:p>
          <a:p>
            <a:r>
              <a:rPr lang="pt-BR" dirty="0"/>
              <a:t>FUNDOS DE AÇÕES</a:t>
            </a:r>
          </a:p>
          <a:p>
            <a:r>
              <a:rPr lang="pt-BR" dirty="0"/>
              <a:t>FUNDOS DE INVESTIMENTO  EM AÇÕES NO EXTERIOR (DOLARIZADOS)</a:t>
            </a:r>
          </a:p>
          <a:p>
            <a:r>
              <a:rPr lang="pt-BR" dirty="0"/>
              <a:t>FUNDOS DE CRIPTOMOEDAS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440FC7-438C-4298-90DE-21FBD5096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30177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7F64A-D024-499B-9B20-99BF31999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DESCORRELAÇÃO ENTRE FUNDOS DE 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DF9110-D4E4-4F70-A317-277031AE2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GESTÕES (TESES DIFERENTES, EQUIPES, ESTRUTURAS)</a:t>
            </a:r>
          </a:p>
          <a:p>
            <a:r>
              <a:rPr lang="pt-BR" dirty="0"/>
              <a:t>PROPOSTA DE VOLATILIDADE</a:t>
            </a:r>
          </a:p>
          <a:p>
            <a:r>
              <a:rPr lang="pt-BR" dirty="0"/>
              <a:t>ABORDAGENS (BOTTOM UP ,TOP DOWN,)</a:t>
            </a:r>
          </a:p>
          <a:p>
            <a:r>
              <a:rPr lang="pt-BR" dirty="0"/>
              <a:t>AÇÕES (INTERSCEÇÃO  ABAIXO DE 30%)</a:t>
            </a:r>
          </a:p>
          <a:p>
            <a:r>
              <a:rPr lang="pt-BR" dirty="0"/>
              <a:t>SETORES (INTERSCEÇÃO ABAIXO DE 75%)</a:t>
            </a:r>
          </a:p>
          <a:p>
            <a:r>
              <a:rPr lang="pt-BR" dirty="0"/>
              <a:t>MEDIDA MAIS APROPRIADA DO QUE A SÉRIE HISTÓRICA</a:t>
            </a:r>
          </a:p>
          <a:p>
            <a:endParaRPr lang="pt-BR" dirty="0"/>
          </a:p>
          <a:p>
            <a:r>
              <a:rPr lang="pt-BR" dirty="0"/>
              <a:t>NO SITE DE COMPARADORES DE FUNDOS NA CORRELAÇÃO DE SÉRIES HISTÓRICAS PROCURAMOS CORRELAÇÃO ABAIXO DE 0,90.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2418DA8-EA78-4199-B3F4-DD7E600ACC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12593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326A9B-E209-4AB6-8B58-8DE6B9049E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  <p:pic>
        <p:nvPicPr>
          <p:cNvPr id="5" name="Espaço Reservado para Conteúdo 3" descr="Uma imagem contendo objeto, relógio, segurando, jogo&#10;&#10;Descrição gerada automaticamente">
            <a:extLst>
              <a:ext uri="{FF2B5EF4-FFF2-40B4-BE49-F238E27FC236}">
                <a16:creationId xmlns:a16="http://schemas.microsoft.com/office/drawing/2014/main" id="{748C1FB3-029E-4484-9635-8E476616E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134" y="681038"/>
            <a:ext cx="8532223" cy="533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202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B9D04-0025-476D-9AE5-5403F93D0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 TÁTICO CARTEIRA GLOBAL (MÉTODO GANGORRA)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8360D3D-78C2-45B8-BD3A-93FEFC4B75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34F8577-5B3D-44D6-92C7-A4C2239E8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721" y="1530985"/>
            <a:ext cx="6953250" cy="433387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D198EF9-5525-4728-A252-DEFC242259F2}"/>
              </a:ext>
            </a:extLst>
          </p:cNvPr>
          <p:cNvSpPr txBox="1"/>
          <p:nvPr/>
        </p:nvSpPr>
        <p:spPr>
          <a:xfrm>
            <a:off x="3261673" y="257738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5%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BB2BF51-1E8B-4D3E-89BA-C0FB459339E2}"/>
              </a:ext>
            </a:extLst>
          </p:cNvPr>
          <p:cNvSpPr txBox="1"/>
          <p:nvPr/>
        </p:nvSpPr>
        <p:spPr>
          <a:xfrm>
            <a:off x="4356754" y="2169735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15%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A22CBF3-B9B9-4D46-AF9B-B94D04D023D1}"/>
              </a:ext>
            </a:extLst>
          </p:cNvPr>
          <p:cNvSpPr txBox="1"/>
          <p:nvPr/>
        </p:nvSpPr>
        <p:spPr>
          <a:xfrm>
            <a:off x="4940568" y="3429000"/>
            <a:ext cx="583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15%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5A9C82E-A77C-4952-A052-9A3E51069BF4}"/>
              </a:ext>
            </a:extLst>
          </p:cNvPr>
          <p:cNvSpPr txBox="1"/>
          <p:nvPr/>
        </p:nvSpPr>
        <p:spPr>
          <a:xfrm>
            <a:off x="3261673" y="4430597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15%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ED40099-54A7-412C-9236-A6E30319CDDD}"/>
              </a:ext>
            </a:extLst>
          </p:cNvPr>
          <p:cNvSpPr txBox="1"/>
          <p:nvPr/>
        </p:nvSpPr>
        <p:spPr>
          <a:xfrm>
            <a:off x="8097625" y="4061265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15%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AE04721-D489-400B-B32F-5328DCA4C479}"/>
              </a:ext>
            </a:extLst>
          </p:cNvPr>
          <p:cNvSpPr txBox="1"/>
          <p:nvPr/>
        </p:nvSpPr>
        <p:spPr>
          <a:xfrm>
            <a:off x="8097625" y="3032714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10%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013CC02-91EF-4D00-9BEB-F090396A0498}"/>
              </a:ext>
            </a:extLst>
          </p:cNvPr>
          <p:cNvSpPr txBox="1"/>
          <p:nvPr/>
        </p:nvSpPr>
        <p:spPr>
          <a:xfrm>
            <a:off x="6436326" y="4524865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10%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2E43765-6D04-4FD0-9B79-0C7E281C5503}"/>
              </a:ext>
            </a:extLst>
          </p:cNvPr>
          <p:cNvSpPr txBox="1"/>
          <p:nvPr/>
        </p:nvSpPr>
        <p:spPr>
          <a:xfrm>
            <a:off x="6436326" y="2790333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10%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56377C6-8FB6-4239-9C3D-386D68AAF8F9}"/>
              </a:ext>
            </a:extLst>
          </p:cNvPr>
          <p:cNvSpPr txBox="1"/>
          <p:nvPr/>
        </p:nvSpPr>
        <p:spPr>
          <a:xfrm>
            <a:off x="6494836" y="226571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3%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F28BC02-9F23-4973-BBBB-4C7A2517C0A9}"/>
              </a:ext>
            </a:extLst>
          </p:cNvPr>
          <p:cNvSpPr txBox="1"/>
          <p:nvPr/>
        </p:nvSpPr>
        <p:spPr>
          <a:xfrm>
            <a:off x="7990980" y="225628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2%</a:t>
            </a:r>
          </a:p>
        </p:txBody>
      </p:sp>
    </p:spTree>
    <p:extLst>
      <p:ext uri="{BB962C8B-B14F-4D97-AF65-F5344CB8AC3E}">
        <p14:creationId xmlns:p14="http://schemas.microsoft.com/office/powerpoint/2010/main" val="32488716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FC681-2861-4DBD-B941-3281FC71C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500" dirty="0"/>
              <a:t>DE ONDE VEM DE FATO O SUCESSO NO PORTFÓLIO DO INVESTIDOR?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202B58-5CEB-445D-B6C0-84B04B93A8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D193754C-309D-45A5-A47E-978D7A504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632" y="2738809"/>
            <a:ext cx="8067675" cy="251663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C0AC7E4-17A0-48E0-9ED4-1685BAD48FE8}"/>
              </a:ext>
            </a:extLst>
          </p:cNvPr>
          <p:cNvSpPr txBox="1"/>
          <p:nvPr/>
        </p:nvSpPr>
        <p:spPr>
          <a:xfrm>
            <a:off x="2705492" y="1690688"/>
            <a:ext cx="6664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Estudo da </a:t>
            </a:r>
            <a:r>
              <a:rPr lang="pt-BR" dirty="0" err="1"/>
              <a:t>Vanguard</a:t>
            </a:r>
            <a:r>
              <a:rPr lang="pt-BR" dirty="0"/>
              <a:t>- uma das maiores gestoras do mundo e que existe desde 1975.</a:t>
            </a:r>
          </a:p>
        </p:txBody>
      </p:sp>
    </p:spTree>
    <p:extLst>
      <p:ext uri="{BB962C8B-B14F-4D97-AF65-F5344CB8AC3E}">
        <p14:creationId xmlns:p14="http://schemas.microsoft.com/office/powerpoint/2010/main" val="32722176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29B8D-A710-4C22-839A-DF2F2C87E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REBALANCEAMENTO DE ATIVOS DE FORMA SISTEMÁTICA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0C5808-4F92-4ECE-A43D-576A7D3A1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r>
              <a:rPr lang="pt-BR" dirty="0"/>
              <a:t>ESTABELECER PERCENTUAIS PARA CADA CLASSE E APORTAR, PREFERENCIALMENTE, COM DINHEIRO NOVO, NA QUE FICOU DEFASADA.</a:t>
            </a:r>
          </a:p>
          <a:p>
            <a:endParaRPr lang="pt-BR" dirty="0"/>
          </a:p>
          <a:p>
            <a:pPr lvl="1"/>
            <a:r>
              <a:rPr lang="pt-BR" dirty="0"/>
              <a:t>10 MIL REAIS EM RENDA VARIÁVEL E 10 MIL NA PARTE DE PROTEÇÃO/DESCORRELAÇÃO.</a:t>
            </a:r>
          </a:p>
          <a:p>
            <a:pPr lvl="1"/>
            <a:r>
              <a:rPr lang="pt-BR" dirty="0"/>
              <a:t>QUEDA DE 20% NAS AÇÕES BR .</a:t>
            </a:r>
          </a:p>
          <a:p>
            <a:pPr lvl="1"/>
            <a:r>
              <a:rPr lang="pt-BR" dirty="0"/>
              <a:t>8 MIL EM RENDA VARIÁVEL BR.</a:t>
            </a:r>
          </a:p>
          <a:p>
            <a:pPr lvl="1"/>
            <a:r>
              <a:rPr lang="pt-BR" dirty="0"/>
              <a:t>10 MIL EM PROTEÇÃO/DESCORRELAÇÃO.</a:t>
            </a:r>
          </a:p>
          <a:p>
            <a:pPr lvl="1"/>
            <a:endParaRPr lang="pt-BR" dirty="0"/>
          </a:p>
          <a:p>
            <a:r>
              <a:rPr lang="pt-BR" dirty="0"/>
              <a:t>APORTES ATÉ QUE HAJA NOVAMENTE UM EQULIÍBRIO.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BFD40B-71D1-48DB-82AA-F145EF61E9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99590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81AFC-2AA1-4D04-A87D-D8914B36C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QUANDO VENDER UM FUNDO?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F0DEA3-CA2F-4255-A5C3-3DB7F171A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Perda de consistência quantitativa;</a:t>
            </a:r>
          </a:p>
          <a:p>
            <a:r>
              <a:rPr lang="pt-BR" dirty="0"/>
              <a:t>Saída do mandato (PL do fundo) / Mudança de estilo da gestão;</a:t>
            </a:r>
          </a:p>
          <a:p>
            <a:r>
              <a:rPr lang="pt-BR" dirty="0"/>
              <a:t>Alteração da equipe de gestão.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787CFCC-57EF-4048-A3E8-96CAFD8AD4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93488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8F1EC-4815-4BD8-9DCC-0BF1D3052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576" y="1136468"/>
            <a:ext cx="9032967" cy="1436914"/>
          </a:xfrm>
        </p:spPr>
        <p:txBody>
          <a:bodyPr>
            <a:normAutofit fontScale="90000"/>
          </a:bodyPr>
          <a:lstStyle/>
          <a:p>
            <a:pPr algn="r"/>
            <a:r>
              <a:rPr lang="pt-BR" dirty="0"/>
              <a:t>A CARTEIRA INTELIGENTE DE FUNDOS DEVE PASSAR POR PROCESSOS E ESTRATÉGIAS TÃO DISTINTOS QUE SE COMPLEMENTEM.</a:t>
            </a:r>
            <a:br>
              <a:rPr lang="pt-BR" dirty="0"/>
            </a:br>
            <a:endParaRPr lang="pt-BR" sz="2000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54074A1-B1F9-4A0B-A9FA-CB406C0741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B5CC0C63-A4FC-44DF-8D1C-F0570A898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052" y="1854925"/>
            <a:ext cx="3390929" cy="245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786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CDFE18-36AA-4EE0-9284-97259D24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ONDE NOS ENCONTRAR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4B15BC-BED7-49A3-BFAA-F2DBC329B3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t-BR"/>
              <a:t>PROF RAFAEL ZATTAR      AULA: FUNDOS DE INVESTIMENTOS</a:t>
            </a:r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6E13E1E-036C-4F8E-B7FE-E4004A7775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390" y="2262822"/>
            <a:ext cx="764210" cy="56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F3B5ED2-3A99-40C2-88F0-F678B6C771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893390" y="3160854"/>
            <a:ext cx="676338" cy="678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D60AAD8-170C-46B2-BC12-3C6F8B5C95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262" y="4169494"/>
            <a:ext cx="676338" cy="60391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F66238B-E018-4BAE-BCD9-C09EBF76238C}"/>
              </a:ext>
            </a:extLst>
          </p:cNvPr>
          <p:cNvSpPr txBox="1"/>
          <p:nvPr/>
        </p:nvSpPr>
        <p:spPr>
          <a:xfrm>
            <a:off x="4062952" y="2414189"/>
            <a:ext cx="1432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CARTEIRA 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3AD43CD-5BAB-4C92-8694-A3A1CE16E781}"/>
              </a:ext>
            </a:extLst>
          </p:cNvPr>
          <p:cNvSpPr txBox="1"/>
          <p:nvPr/>
        </p:nvSpPr>
        <p:spPr>
          <a:xfrm>
            <a:off x="3996964" y="3315665"/>
            <a:ext cx="1564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@CARTEIRA_Z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73E2F09-B9BE-43C1-B6F7-3D2BBDC3B6AF}"/>
              </a:ext>
            </a:extLst>
          </p:cNvPr>
          <p:cNvSpPr txBox="1"/>
          <p:nvPr/>
        </p:nvSpPr>
        <p:spPr>
          <a:xfrm>
            <a:off x="4062952" y="4245421"/>
            <a:ext cx="2224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@ZATTARRAFAEL</a:t>
            </a:r>
          </a:p>
        </p:txBody>
      </p:sp>
    </p:spTree>
    <p:extLst>
      <p:ext uri="{BB962C8B-B14F-4D97-AF65-F5344CB8AC3E}">
        <p14:creationId xmlns:p14="http://schemas.microsoft.com/office/powerpoint/2010/main" val="992444838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MBA">
  <a:themeElements>
    <a:clrScheme name="CORES MBA">
      <a:dk1>
        <a:srgbClr val="000000"/>
      </a:dk1>
      <a:lt1>
        <a:srgbClr val="FFFFFF"/>
      </a:lt1>
      <a:dk2>
        <a:srgbClr val="082785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 MBA" id="{B099FE1B-BCF6-B146-A112-CC04D40207C5}" vid="{7A7CBC7C-7F2B-8840-B925-44B674A6383D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3684</TotalTime>
  <Words>2614</Words>
  <Application>Microsoft Office PowerPoint</Application>
  <PresentationFormat>Widescreen</PresentationFormat>
  <Paragraphs>325</Paragraphs>
  <Slides>53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53</vt:i4>
      </vt:variant>
    </vt:vector>
  </HeadingPairs>
  <TitlesOfParts>
    <vt:vector size="61" baseType="lpstr">
      <vt:lpstr>Andale Mono</vt:lpstr>
      <vt:lpstr>Arial</vt:lpstr>
      <vt:lpstr>Calibri</vt:lpstr>
      <vt:lpstr>Calibri (CORPO</vt:lpstr>
      <vt:lpstr>Calibri Light</vt:lpstr>
      <vt:lpstr>Symbol</vt:lpstr>
      <vt:lpstr>Personalizar design</vt:lpstr>
      <vt:lpstr>1_TEMA MBA</vt:lpstr>
      <vt:lpstr> FUNDOS DE INVESTIMENTOS RAFAEL ZATTAR </vt:lpstr>
      <vt:lpstr>Concentre-se naquilo que você é bom e delegue todo o resto. Stevie Jobs</vt:lpstr>
      <vt:lpstr>O QUE É MELHOR:</vt:lpstr>
      <vt:lpstr>EFICIÊNCIA X EFICÁCIA</vt:lpstr>
      <vt:lpstr>RESULTADOS DE NOSSAS CARTEIRAS:</vt:lpstr>
      <vt:lpstr>ROTEIRO </vt:lpstr>
      <vt:lpstr>POR QUE INVESTIR EM FUNDOS?</vt:lpstr>
      <vt:lpstr>POR QUE INVESTIR EM FUNDOS?  </vt:lpstr>
      <vt:lpstr>MITOS DOS FUNDOS DE INVESTIMENTOS</vt:lpstr>
      <vt:lpstr>DIFERENÇA ENTRE INVESTIR EM AÇÕES E FUNDOS</vt:lpstr>
      <vt:lpstr>NEM TUDO SÃO FLORES...</vt:lpstr>
      <vt:lpstr>Apresentação do PowerPoint</vt:lpstr>
      <vt:lpstr>ESTUDO SOBRE FUNDOS 15 ANOS</vt:lpstr>
      <vt:lpstr>Apresentação do PowerPoint</vt:lpstr>
      <vt:lpstr>DE QUAIS FUNDOS DEVEMOS FUGIR?</vt:lpstr>
      <vt:lpstr>COMO SER UM BOM INVESTIDOR DE FUNDOS</vt:lpstr>
      <vt:lpstr>APRENDENDO A ESCOLHER BONS FUNDOS</vt:lpstr>
      <vt:lpstr>POR ONDE COMEÇAR?</vt:lpstr>
      <vt:lpstr>OS PILARES PARA A ESCOLHA DE UM FUNDO DE INVESTIMENTO</vt:lpstr>
      <vt:lpstr>GESTÃO  Reflexão</vt:lpstr>
      <vt:lpstr>Apresentação do PowerPoint</vt:lpstr>
      <vt:lpstr>Perguntas necessárias a serem feitas ao escolher uma gestão (em regra, através da área comercial): </vt:lpstr>
      <vt:lpstr>ESTRATÉGIA</vt:lpstr>
      <vt:lpstr>RESULTADO  PONTOS IMPORTANTES PARA A ANÁLISE QUANTITATIVA DE UM FUNDO </vt:lpstr>
      <vt:lpstr>FERRAMENTA ÚTIL</vt:lpstr>
      <vt:lpstr>A FALÁCIA DA RENTABILIDADE AO FINAL DO PERÍODO</vt:lpstr>
      <vt:lpstr>Apresentação do PowerPoint</vt:lpstr>
      <vt:lpstr>SOLUÇÃO PARA ESSE ERRO:</vt:lpstr>
      <vt:lpstr>ERROS DO INVESTIDOR AO ESCOLHER UM FUNDO DE INVESTIMENTO</vt:lpstr>
      <vt:lpstr>ERROS DO INVESTIDOR AO ESCOLHER UM FUNDO DE INVESTIMENTO</vt:lpstr>
      <vt:lpstr>O MAIOR ERRO DO INVESTIDOR DE FUNDOS: COMPRAR NA ALTA E VENDER DA BAIXA</vt:lpstr>
      <vt:lpstr>OS TEMIDOS DRAWDOWNS  O CURIOSO CASO DO FOF NOSTRADAMUS (FICTÍCIO) </vt:lpstr>
      <vt:lpstr>O CURIOSO CASO DO FOF NOSTRADAMUS (FICTÍCIO)</vt:lpstr>
      <vt:lpstr>Apresentação do PowerPoint</vt:lpstr>
      <vt:lpstr>Apresentação do PowerPoint</vt:lpstr>
      <vt:lpstr>Apresentação do PowerPoint</vt:lpstr>
      <vt:lpstr>Lições:</vt:lpstr>
      <vt:lpstr>MONTANDO UMA CARTEIRA INTELIGENTE DE FUNDOS</vt:lpstr>
      <vt:lpstr>COMO MONTAR UMA CARTEIRA INTELIGENTE DE FUNDOS </vt:lpstr>
      <vt:lpstr>CORRELAÇÃO ENTRE FUNDOS</vt:lpstr>
      <vt:lpstr>PERFIS DAS CARTEIRAS Z</vt:lpstr>
      <vt:lpstr>EXEMPLIFICANDO</vt:lpstr>
      <vt:lpstr>Z LIGHT- CONSERVADORA</vt:lpstr>
      <vt:lpstr>Z PLUS-Z MEDIUM (CONSERVADOR-MODERADO)</vt:lpstr>
      <vt:lpstr>Z HARD (AGRESSIVA) </vt:lpstr>
      <vt:lpstr>DESCORRELAÇÃO ENTRE FUNDOS DE AÇÕES</vt:lpstr>
      <vt:lpstr>Apresentação do PowerPoint</vt:lpstr>
      <vt:lpstr>ESQUEMA TÁTICO CARTEIRA GLOBAL (MÉTODO GANGORRA)</vt:lpstr>
      <vt:lpstr>DE ONDE VEM DE FATO O SUCESSO NO PORTFÓLIO DO INVESTIDOR?</vt:lpstr>
      <vt:lpstr>REBALANCEAMENTO DE ATIVOS DE FORMA SISTEMÁTICA</vt:lpstr>
      <vt:lpstr>QUANDO VENDER UM FUNDO?</vt:lpstr>
      <vt:lpstr>A CARTEIRA INTELIGENTE DE FUNDOS DEVE PASSAR POR PROCESSOS E ESTRATÉGIAS TÃO DISTINTOS QUE SE COMPLEMENTEM. </vt:lpstr>
      <vt:lpstr>ONDE NOS ENCONTRAR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RafaelZattar</dc:title>
  <dc:creator>Adna Leticia Melo Silva Alves</dc:creator>
  <cp:lastModifiedBy>RAFAEL R</cp:lastModifiedBy>
  <cp:revision>123</cp:revision>
  <dcterms:created xsi:type="dcterms:W3CDTF">2022-04-06T17:41:45Z</dcterms:created>
  <dcterms:modified xsi:type="dcterms:W3CDTF">2022-06-14T16:56:12Z</dcterms:modified>
</cp:coreProperties>
</file>